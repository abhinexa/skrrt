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25"/>
  </p:notesMasterIdLst>
  <p:sldIdLst>
    <p:sldId id="256" r:id="rId2"/>
    <p:sldId id="278" r:id="rId3"/>
    <p:sldId id="259" r:id="rId4"/>
    <p:sldId id="271" r:id="rId5"/>
    <p:sldId id="260" r:id="rId6"/>
    <p:sldId id="272" r:id="rId7"/>
    <p:sldId id="261" r:id="rId8"/>
    <p:sldId id="273" r:id="rId9"/>
    <p:sldId id="262" r:id="rId10"/>
    <p:sldId id="274" r:id="rId11"/>
    <p:sldId id="263" r:id="rId12"/>
    <p:sldId id="275" r:id="rId13"/>
    <p:sldId id="264" r:id="rId14"/>
    <p:sldId id="279" r:id="rId15"/>
    <p:sldId id="280" r:id="rId16"/>
    <p:sldId id="265" r:id="rId17"/>
    <p:sldId id="276" r:id="rId18"/>
    <p:sldId id="266" r:id="rId19"/>
    <p:sldId id="267" r:id="rId20"/>
    <p:sldId id="277" r:id="rId21"/>
    <p:sldId id="268" r:id="rId22"/>
    <p:sldId id="269" r:id="rId23"/>
    <p:sldId id="270" r:id="rId24"/>
  </p:sldIdLst>
  <p:sldSz cx="12192000" cy="6858000"/>
  <p:notesSz cx="6761163" cy="99425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6" roundtripDataSignature="AMtx7miRs8jnCq7dUwYbkcHa2SHPnCa0s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77"/>
      </p:cViewPr>
      <p:guideLst>
        <p:guide orient="horz" pos="2160"/>
        <p:guide pos="3840"/>
      </p:guideLst>
    </p:cSldViewPr>
  </p:slideViewPr>
  <p:notesTextViewPr>
    <p:cViewPr>
      <p:scale>
        <a:sx n="20" d="100"/>
        <a:sy n="2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customschemas.google.com/relationships/presentationmetadata" Target="meta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29837" cy="498852"/>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29761" y="0"/>
            <a:ext cx="2929837" cy="498852"/>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43662"/>
            <a:ext cx="2929837" cy="498851"/>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1: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1: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a:extLst>
            <a:ext uri="{FF2B5EF4-FFF2-40B4-BE49-F238E27FC236}">
              <a16:creationId xmlns:a16="http://schemas.microsoft.com/office/drawing/2014/main" id="{15B2772F-CB97-2C58-E150-9CC37936176B}"/>
            </a:ext>
          </a:extLst>
        </p:cNvPr>
        <p:cNvGrpSpPr/>
        <p:nvPr/>
      </p:nvGrpSpPr>
      <p:grpSpPr>
        <a:xfrm>
          <a:off x="0" y="0"/>
          <a:ext cx="0" cy="0"/>
          <a:chOff x="0" y="0"/>
          <a:chExt cx="0" cy="0"/>
        </a:xfrm>
      </p:grpSpPr>
      <p:sp>
        <p:nvSpPr>
          <p:cNvPr id="138" name="Google Shape;138;p4:notes">
            <a:extLst>
              <a:ext uri="{FF2B5EF4-FFF2-40B4-BE49-F238E27FC236}">
                <a16:creationId xmlns:a16="http://schemas.microsoft.com/office/drawing/2014/main" id="{51A7BA9B-831C-49B5-B3E8-DCAC4CDA0DF9}"/>
              </a:ext>
            </a:extLst>
          </p:cNvPr>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4:notes">
            <a:extLst>
              <a:ext uri="{FF2B5EF4-FFF2-40B4-BE49-F238E27FC236}">
                <a16:creationId xmlns:a16="http://schemas.microsoft.com/office/drawing/2014/main" id="{91754882-BCBE-A677-B716-D2876A624F32}"/>
              </a:ext>
            </a:extLst>
          </p:cNvPr>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172346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5: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8" name="Google Shape;148;p5: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a:extLst>
            <a:ext uri="{FF2B5EF4-FFF2-40B4-BE49-F238E27FC236}">
              <a16:creationId xmlns:a16="http://schemas.microsoft.com/office/drawing/2014/main" id="{F053C01D-FBA3-2AFF-E54B-92E0B907B02E}"/>
            </a:ext>
          </a:extLst>
        </p:cNvPr>
        <p:cNvGrpSpPr/>
        <p:nvPr/>
      </p:nvGrpSpPr>
      <p:grpSpPr>
        <a:xfrm>
          <a:off x="0" y="0"/>
          <a:ext cx="0" cy="0"/>
          <a:chOff x="0" y="0"/>
          <a:chExt cx="0" cy="0"/>
        </a:xfrm>
      </p:grpSpPr>
      <p:sp>
        <p:nvSpPr>
          <p:cNvPr id="147" name="Google Shape;147;p5:notes">
            <a:extLst>
              <a:ext uri="{FF2B5EF4-FFF2-40B4-BE49-F238E27FC236}">
                <a16:creationId xmlns:a16="http://schemas.microsoft.com/office/drawing/2014/main" id="{2AB0DDF4-845E-E6B0-E50C-53DB9E07DE5C}"/>
              </a:ext>
            </a:extLst>
          </p:cNvPr>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8" name="Google Shape;148;p5:notes">
            <a:extLst>
              <a:ext uri="{FF2B5EF4-FFF2-40B4-BE49-F238E27FC236}">
                <a16:creationId xmlns:a16="http://schemas.microsoft.com/office/drawing/2014/main" id="{BAF977F6-6690-28B9-BC2F-359FF15455C2}"/>
              </a:ext>
            </a:extLst>
          </p:cNvPr>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532864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6: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p6: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a:extLst>
            <a:ext uri="{FF2B5EF4-FFF2-40B4-BE49-F238E27FC236}">
              <a16:creationId xmlns:a16="http://schemas.microsoft.com/office/drawing/2014/main" id="{97399A4A-A58E-6FAC-D1F2-4E364A9C7E4E}"/>
            </a:ext>
          </a:extLst>
        </p:cNvPr>
        <p:cNvGrpSpPr/>
        <p:nvPr/>
      </p:nvGrpSpPr>
      <p:grpSpPr>
        <a:xfrm>
          <a:off x="0" y="0"/>
          <a:ext cx="0" cy="0"/>
          <a:chOff x="0" y="0"/>
          <a:chExt cx="0" cy="0"/>
        </a:xfrm>
      </p:grpSpPr>
      <p:sp>
        <p:nvSpPr>
          <p:cNvPr id="163" name="Google Shape;163;p7:notes">
            <a:extLst>
              <a:ext uri="{FF2B5EF4-FFF2-40B4-BE49-F238E27FC236}">
                <a16:creationId xmlns:a16="http://schemas.microsoft.com/office/drawing/2014/main" id="{60AEF2D6-C171-1A22-1C47-9846CB4F9DD3}"/>
              </a:ext>
            </a:extLst>
          </p:cNvPr>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p7:notes">
            <a:extLst>
              <a:ext uri="{FF2B5EF4-FFF2-40B4-BE49-F238E27FC236}">
                <a16:creationId xmlns:a16="http://schemas.microsoft.com/office/drawing/2014/main" id="{7D56ED35-24F4-3EBA-92E8-0C56F88F959E}"/>
              </a:ext>
            </a:extLst>
          </p:cNvPr>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743753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7: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p7: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a:extLst>
            <a:ext uri="{FF2B5EF4-FFF2-40B4-BE49-F238E27FC236}">
              <a16:creationId xmlns:a16="http://schemas.microsoft.com/office/drawing/2014/main" id="{A94E75F7-FA35-112B-007B-AFF1C33A33DD}"/>
            </a:ext>
          </a:extLst>
        </p:cNvPr>
        <p:cNvGrpSpPr/>
        <p:nvPr/>
      </p:nvGrpSpPr>
      <p:grpSpPr>
        <a:xfrm>
          <a:off x="0" y="0"/>
          <a:ext cx="0" cy="0"/>
          <a:chOff x="0" y="0"/>
          <a:chExt cx="0" cy="0"/>
        </a:xfrm>
      </p:grpSpPr>
      <p:sp>
        <p:nvSpPr>
          <p:cNvPr id="163" name="Google Shape;163;p7:notes">
            <a:extLst>
              <a:ext uri="{FF2B5EF4-FFF2-40B4-BE49-F238E27FC236}">
                <a16:creationId xmlns:a16="http://schemas.microsoft.com/office/drawing/2014/main" id="{D517D725-2F09-598A-E4BF-C25CFA8479DF}"/>
              </a:ext>
            </a:extLst>
          </p:cNvPr>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p7:notes">
            <a:extLst>
              <a:ext uri="{FF2B5EF4-FFF2-40B4-BE49-F238E27FC236}">
                <a16:creationId xmlns:a16="http://schemas.microsoft.com/office/drawing/2014/main" id="{9BA1C1CF-A76E-E0AF-A5C1-0E2F666A7169}"/>
              </a:ext>
            </a:extLst>
          </p:cNvPr>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825667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8: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2" name="Google Shape;172;p8: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95DECE97-A3F5-1BAE-8E04-326C67EA5C40}"/>
            </a:ext>
          </a:extLst>
        </p:cNvPr>
        <p:cNvGrpSpPr/>
        <p:nvPr/>
      </p:nvGrpSpPr>
      <p:grpSpPr>
        <a:xfrm>
          <a:off x="0" y="0"/>
          <a:ext cx="0" cy="0"/>
          <a:chOff x="0" y="0"/>
          <a:chExt cx="0" cy="0"/>
        </a:xfrm>
      </p:grpSpPr>
      <p:sp>
        <p:nvSpPr>
          <p:cNvPr id="171" name="Google Shape;171;p8:notes">
            <a:extLst>
              <a:ext uri="{FF2B5EF4-FFF2-40B4-BE49-F238E27FC236}">
                <a16:creationId xmlns:a16="http://schemas.microsoft.com/office/drawing/2014/main" id="{0A42B588-2BA4-3E3E-E534-CB7D38D51CAB}"/>
              </a:ext>
            </a:extLst>
          </p:cNvPr>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2" name="Google Shape;172;p8:notes">
            <a:extLst>
              <a:ext uri="{FF2B5EF4-FFF2-40B4-BE49-F238E27FC236}">
                <a16:creationId xmlns:a16="http://schemas.microsoft.com/office/drawing/2014/main" id="{42A41D19-B92A-90BC-EC3C-26E9B38BB0D4}"/>
              </a:ext>
            </a:extLst>
          </p:cNvPr>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178622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9: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9: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a:extLst>
            <a:ext uri="{FF2B5EF4-FFF2-40B4-BE49-F238E27FC236}">
              <a16:creationId xmlns:a16="http://schemas.microsoft.com/office/drawing/2014/main" id="{0652B1BD-6124-774F-252B-A27D148E370D}"/>
            </a:ext>
          </a:extLst>
        </p:cNvPr>
        <p:cNvGrpSpPr/>
        <p:nvPr/>
      </p:nvGrpSpPr>
      <p:grpSpPr>
        <a:xfrm>
          <a:off x="0" y="0"/>
          <a:ext cx="0" cy="0"/>
          <a:chOff x="0" y="0"/>
          <a:chExt cx="0" cy="0"/>
        </a:xfrm>
      </p:grpSpPr>
      <p:sp>
        <p:nvSpPr>
          <p:cNvPr id="179" name="Google Shape;179;p9:notes">
            <a:extLst>
              <a:ext uri="{FF2B5EF4-FFF2-40B4-BE49-F238E27FC236}">
                <a16:creationId xmlns:a16="http://schemas.microsoft.com/office/drawing/2014/main" id="{121042B4-D912-AC44-EE36-61188E075AC0}"/>
              </a:ext>
            </a:extLst>
          </p:cNvPr>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9:notes">
            <a:extLst>
              <a:ext uri="{FF2B5EF4-FFF2-40B4-BE49-F238E27FC236}">
                <a16:creationId xmlns:a16="http://schemas.microsoft.com/office/drawing/2014/main" id="{C35581DC-25E6-1493-1B3C-E27FCBDBC6E9}"/>
              </a:ext>
            </a:extLst>
          </p:cNvPr>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015807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0: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 name="Google Shape;188;p10: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a:extLst>
            <a:ext uri="{FF2B5EF4-FFF2-40B4-BE49-F238E27FC236}">
              <a16:creationId xmlns:a16="http://schemas.microsoft.com/office/drawing/2014/main" id="{43309878-0CDF-FEEC-C633-C54828C2160C}"/>
            </a:ext>
          </a:extLst>
        </p:cNvPr>
        <p:cNvGrpSpPr/>
        <p:nvPr/>
      </p:nvGrpSpPr>
      <p:grpSpPr>
        <a:xfrm>
          <a:off x="0" y="0"/>
          <a:ext cx="0" cy="0"/>
          <a:chOff x="0" y="0"/>
          <a:chExt cx="0" cy="0"/>
        </a:xfrm>
      </p:grpSpPr>
      <p:sp>
        <p:nvSpPr>
          <p:cNvPr id="155" name="Google Shape;155;p6:notes">
            <a:extLst>
              <a:ext uri="{FF2B5EF4-FFF2-40B4-BE49-F238E27FC236}">
                <a16:creationId xmlns:a16="http://schemas.microsoft.com/office/drawing/2014/main" id="{1A7F36C6-A0D3-2F48-BB9F-CF2D23A69E81}"/>
              </a:ext>
            </a:extLst>
          </p:cNvPr>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
        <p:nvSpPr>
          <p:cNvPr id="156" name="Google Shape;156;p6:notes">
            <a:extLst>
              <a:ext uri="{FF2B5EF4-FFF2-40B4-BE49-F238E27FC236}">
                <a16:creationId xmlns:a16="http://schemas.microsoft.com/office/drawing/2014/main" id="{9E1302A6-344F-8BD0-6254-678EBD5DB046}"/>
              </a:ext>
            </a:extLst>
          </p:cNvPr>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106783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a:extLst>
            <a:ext uri="{FF2B5EF4-FFF2-40B4-BE49-F238E27FC236}">
              <a16:creationId xmlns:a16="http://schemas.microsoft.com/office/drawing/2014/main" id="{534CC255-3A86-B80A-6B0A-44DCB2D03FEA}"/>
            </a:ext>
          </a:extLst>
        </p:cNvPr>
        <p:cNvGrpSpPr/>
        <p:nvPr/>
      </p:nvGrpSpPr>
      <p:grpSpPr>
        <a:xfrm>
          <a:off x="0" y="0"/>
          <a:ext cx="0" cy="0"/>
          <a:chOff x="0" y="0"/>
          <a:chExt cx="0" cy="0"/>
        </a:xfrm>
      </p:grpSpPr>
      <p:sp>
        <p:nvSpPr>
          <p:cNvPr id="155" name="Google Shape;155;p6:notes">
            <a:extLst>
              <a:ext uri="{FF2B5EF4-FFF2-40B4-BE49-F238E27FC236}">
                <a16:creationId xmlns:a16="http://schemas.microsoft.com/office/drawing/2014/main" id="{9838A3E5-DEB1-639B-409B-9CB693FD33A9}"/>
              </a:ext>
            </a:extLst>
          </p:cNvPr>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p6:notes">
            <a:extLst>
              <a:ext uri="{FF2B5EF4-FFF2-40B4-BE49-F238E27FC236}">
                <a16:creationId xmlns:a16="http://schemas.microsoft.com/office/drawing/2014/main" id="{52A79BDC-2384-9C29-8331-B336552CEA0A}"/>
              </a:ext>
            </a:extLst>
          </p:cNvPr>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031204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1: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11: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a:extLst>
            <a:ext uri="{FF2B5EF4-FFF2-40B4-BE49-F238E27FC236}">
              <a16:creationId xmlns:a16="http://schemas.microsoft.com/office/drawing/2014/main" id="{F0BD0095-23CC-F20A-6C7E-D91687491013}"/>
            </a:ext>
          </a:extLst>
        </p:cNvPr>
        <p:cNvGrpSpPr/>
        <p:nvPr/>
      </p:nvGrpSpPr>
      <p:grpSpPr>
        <a:xfrm>
          <a:off x="0" y="0"/>
          <a:ext cx="0" cy="0"/>
          <a:chOff x="0" y="0"/>
          <a:chExt cx="0" cy="0"/>
        </a:xfrm>
      </p:grpSpPr>
      <p:sp>
        <p:nvSpPr>
          <p:cNvPr id="195" name="Google Shape;195;p11:notes">
            <a:extLst>
              <a:ext uri="{FF2B5EF4-FFF2-40B4-BE49-F238E27FC236}">
                <a16:creationId xmlns:a16="http://schemas.microsoft.com/office/drawing/2014/main" id="{390719D7-F662-BAC5-C3D6-DAD1B2B0AB5C}"/>
              </a:ext>
            </a:extLst>
          </p:cNvPr>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11:notes">
            <a:extLst>
              <a:ext uri="{FF2B5EF4-FFF2-40B4-BE49-F238E27FC236}">
                <a16:creationId xmlns:a16="http://schemas.microsoft.com/office/drawing/2014/main" id="{BCD80A8C-28F0-48EE-3DDE-A6DF34973D3C}"/>
              </a:ext>
            </a:extLst>
          </p:cNvPr>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265634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2: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4" name="Google Shape;204;p12: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3: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2" name="Google Shape;212;p13:notes"/>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3" name="Google Shape;213;p13:notes"/>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a:extLst>
            <a:ext uri="{FF2B5EF4-FFF2-40B4-BE49-F238E27FC236}">
              <a16:creationId xmlns:a16="http://schemas.microsoft.com/office/drawing/2014/main" id="{8FF42E8B-69FE-4055-621B-4C9DEB1120A9}"/>
            </a:ext>
          </a:extLst>
        </p:cNvPr>
        <p:cNvGrpSpPr/>
        <p:nvPr/>
      </p:nvGrpSpPr>
      <p:grpSpPr>
        <a:xfrm>
          <a:off x="0" y="0"/>
          <a:ext cx="0" cy="0"/>
          <a:chOff x="0" y="0"/>
          <a:chExt cx="0" cy="0"/>
        </a:xfrm>
      </p:grpSpPr>
      <p:sp>
        <p:nvSpPr>
          <p:cNvPr id="211" name="Google Shape;211;p13:notes">
            <a:extLst>
              <a:ext uri="{FF2B5EF4-FFF2-40B4-BE49-F238E27FC236}">
                <a16:creationId xmlns:a16="http://schemas.microsoft.com/office/drawing/2014/main" id="{80248E5C-1D71-0D4A-4294-996072925013}"/>
              </a:ext>
            </a:extLst>
          </p:cNvPr>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2" name="Google Shape;212;p13:notes">
            <a:extLst>
              <a:ext uri="{FF2B5EF4-FFF2-40B4-BE49-F238E27FC236}">
                <a16:creationId xmlns:a16="http://schemas.microsoft.com/office/drawing/2014/main" id="{D3073317-5365-52BA-93B3-B1C74EE94751}"/>
              </a:ext>
            </a:extLst>
          </p:cNvPr>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3" name="Google Shape;213;p13:notes">
            <a:extLst>
              <a:ext uri="{FF2B5EF4-FFF2-40B4-BE49-F238E27FC236}">
                <a16:creationId xmlns:a16="http://schemas.microsoft.com/office/drawing/2014/main" id="{077A10F1-34D0-E751-EE24-244ED4580D82}"/>
              </a:ext>
            </a:extLst>
          </p:cNvPr>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20</a:t>
            </a:fld>
            <a:endParaRPr/>
          </a:p>
        </p:txBody>
      </p:sp>
    </p:spTree>
    <p:extLst>
      <p:ext uri="{BB962C8B-B14F-4D97-AF65-F5344CB8AC3E}">
        <p14:creationId xmlns:p14="http://schemas.microsoft.com/office/powerpoint/2010/main" val="35933747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4: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1" name="Google Shape;221;p14:notes"/>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14:notes"/>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5: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0" name="Google Shape;230;p15:notes"/>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1" name="Google Shape;231;p15:notes"/>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6: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9" name="Google Shape;239;p16: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5"/>
        <p:cNvGrpSpPr/>
        <p:nvPr/>
      </p:nvGrpSpPr>
      <p:grpSpPr>
        <a:xfrm>
          <a:off x="0" y="0"/>
          <a:ext cx="0" cy="0"/>
          <a:chOff x="0" y="0"/>
          <a:chExt cx="0" cy="0"/>
        </a:xfrm>
      </p:grpSpPr>
      <p:sp>
        <p:nvSpPr>
          <p:cNvPr id="16" name="Google Shape;16;p18"/>
          <p:cNvSpPr txBox="1">
            <a:spLocks noGrp="1"/>
          </p:cNvSpPr>
          <p:nvPr>
            <p:ph type="body" idx="1"/>
          </p:nvPr>
        </p:nvSpPr>
        <p:spPr>
          <a:xfrm>
            <a:off x="174813" y="1258282"/>
            <a:ext cx="11842377" cy="491868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rgbClr val="002060"/>
              </a:buClr>
              <a:buSzPts val="2800"/>
              <a:buChar char="•"/>
              <a:defRPr>
                <a:solidFill>
                  <a:srgbClr val="002060"/>
                </a:solidFill>
                <a:latin typeface="Bookman Old Style"/>
                <a:ea typeface="Bookman Old Style"/>
                <a:cs typeface="Bookman Old Style"/>
                <a:sym typeface="Bookman Old Style"/>
              </a:defRPr>
            </a:lvl1pPr>
            <a:lvl2pPr marL="914400" lvl="1" indent="-381000" algn="l">
              <a:lnSpc>
                <a:spcPct val="90000"/>
              </a:lnSpc>
              <a:spcBef>
                <a:spcPts val="500"/>
              </a:spcBef>
              <a:spcAft>
                <a:spcPts val="0"/>
              </a:spcAft>
              <a:buClr>
                <a:schemeClr val="dk1"/>
              </a:buClr>
              <a:buSzPts val="2400"/>
              <a:buChar char="•"/>
              <a:defRPr>
                <a:latin typeface="Bookman Old Style"/>
                <a:ea typeface="Bookman Old Style"/>
                <a:cs typeface="Bookman Old Style"/>
                <a:sym typeface="Bookman Old Style"/>
              </a:defRPr>
            </a:lvl2pPr>
            <a:lvl3pPr marL="1371600" lvl="2" indent="-355600" algn="l">
              <a:lnSpc>
                <a:spcPct val="90000"/>
              </a:lnSpc>
              <a:spcBef>
                <a:spcPts val="500"/>
              </a:spcBef>
              <a:spcAft>
                <a:spcPts val="0"/>
              </a:spcAft>
              <a:buClr>
                <a:srgbClr val="002060"/>
              </a:buClr>
              <a:buSzPts val="2000"/>
              <a:buChar char="•"/>
              <a:defRPr>
                <a:solidFill>
                  <a:srgbClr val="002060"/>
                </a:solidFill>
                <a:latin typeface="Bookman Old Style"/>
                <a:ea typeface="Bookman Old Style"/>
                <a:cs typeface="Bookman Old Style"/>
                <a:sym typeface="Bookman Old Style"/>
              </a:defRPr>
            </a:lvl3pPr>
            <a:lvl4pPr marL="1828800" lvl="3" indent="-342900" algn="l">
              <a:lnSpc>
                <a:spcPct val="90000"/>
              </a:lnSpc>
              <a:spcBef>
                <a:spcPts val="500"/>
              </a:spcBef>
              <a:spcAft>
                <a:spcPts val="0"/>
              </a:spcAft>
              <a:buClr>
                <a:srgbClr val="002060"/>
              </a:buClr>
              <a:buSzPts val="1800"/>
              <a:buChar char="•"/>
              <a:defRPr>
                <a:solidFill>
                  <a:srgbClr val="002060"/>
                </a:solidFill>
                <a:latin typeface="Bookman Old Style"/>
                <a:ea typeface="Bookman Old Style"/>
                <a:cs typeface="Bookman Old Style"/>
                <a:sym typeface="Bookman Old Style"/>
              </a:defRPr>
            </a:lvl4pPr>
            <a:lvl5pPr marL="2286000" lvl="4" indent="-342900" algn="l">
              <a:lnSpc>
                <a:spcPct val="90000"/>
              </a:lnSpc>
              <a:spcBef>
                <a:spcPts val="500"/>
              </a:spcBef>
              <a:spcAft>
                <a:spcPts val="0"/>
              </a:spcAft>
              <a:buClr>
                <a:srgbClr val="002060"/>
              </a:buClr>
              <a:buSzPts val="1800"/>
              <a:buChar char="•"/>
              <a:defRPr>
                <a:solidFill>
                  <a:srgbClr val="002060"/>
                </a:solidFill>
                <a:latin typeface="Bookman Old Style"/>
                <a:ea typeface="Bookman Old Style"/>
                <a:cs typeface="Bookman Old Style"/>
                <a:sym typeface="Bookman Old Styl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 name="Google Shape;17;p18"/>
          <p:cNvSpPr txBox="1"/>
          <p:nvPr/>
        </p:nvSpPr>
        <p:spPr>
          <a:xfrm>
            <a:off x="5055596" y="6405140"/>
            <a:ext cx="2080806"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u="none" strike="noStrike" cap="none">
                <a:solidFill>
                  <a:srgbClr val="422C75"/>
                </a:solidFill>
                <a:latin typeface="Bookman Old Style"/>
                <a:ea typeface="Bookman Old Style"/>
                <a:cs typeface="Bookman Old Style"/>
                <a:sym typeface="Bookman Old Style"/>
              </a:rPr>
              <a:t>Go, change the world</a:t>
            </a:r>
            <a:endParaRPr sz="1400" b="1" i="0" u="none" strike="noStrike" cap="none">
              <a:solidFill>
                <a:schemeClr val="dk1"/>
              </a:solidFill>
              <a:latin typeface="Bookman Old Style"/>
              <a:ea typeface="Bookman Old Style"/>
              <a:cs typeface="Bookman Old Style"/>
              <a:sym typeface="Bookman Old Style"/>
            </a:endParaRPr>
          </a:p>
        </p:txBody>
      </p:sp>
      <p:sp>
        <p:nvSpPr>
          <p:cNvPr id="18" name="Google Shape;18;p18"/>
          <p:cNvSpPr txBox="1">
            <a:spLocks noGrp="1"/>
          </p:cNvSpPr>
          <p:nvPr>
            <p:ph type="dt" idx="10"/>
          </p:nvPr>
        </p:nvSpPr>
        <p:spPr>
          <a:xfrm>
            <a:off x="174812" y="6347205"/>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solidFill>
                  <a:srgbClr val="002060"/>
                </a:solidFill>
                <a:latin typeface="Bookman Old Style"/>
                <a:ea typeface="Bookman Old Style"/>
                <a:cs typeface="Bookman Old Style"/>
                <a:sym typeface="Bookman Old Styl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8"/>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rgbClr val="002060"/>
                </a:solidFill>
                <a:latin typeface="Bookman Old Style"/>
                <a:ea typeface="Bookman Old Style"/>
                <a:cs typeface="Bookman Old Style"/>
                <a:sym typeface="Bookman Old Style"/>
              </a:defRPr>
            </a:lvl1pPr>
            <a:lvl2pPr marL="0" lvl="1" indent="0" algn="r">
              <a:spcBef>
                <a:spcPts val="0"/>
              </a:spcBef>
              <a:buNone/>
              <a:defRPr sz="1200" b="1" i="0" u="none" strike="noStrike" cap="none">
                <a:solidFill>
                  <a:srgbClr val="002060"/>
                </a:solidFill>
                <a:latin typeface="Bookman Old Style"/>
                <a:ea typeface="Bookman Old Style"/>
                <a:cs typeface="Bookman Old Style"/>
                <a:sym typeface="Bookman Old Style"/>
              </a:defRPr>
            </a:lvl2pPr>
            <a:lvl3pPr marL="0" lvl="2" indent="0" algn="r">
              <a:spcBef>
                <a:spcPts val="0"/>
              </a:spcBef>
              <a:buNone/>
              <a:defRPr sz="1200" b="1" i="0" u="none" strike="noStrike" cap="none">
                <a:solidFill>
                  <a:srgbClr val="002060"/>
                </a:solidFill>
                <a:latin typeface="Bookman Old Style"/>
                <a:ea typeface="Bookman Old Style"/>
                <a:cs typeface="Bookman Old Style"/>
                <a:sym typeface="Bookman Old Style"/>
              </a:defRPr>
            </a:lvl3pPr>
            <a:lvl4pPr marL="0" lvl="3" indent="0" algn="r">
              <a:spcBef>
                <a:spcPts val="0"/>
              </a:spcBef>
              <a:buNone/>
              <a:defRPr sz="1200" b="1" i="0" u="none" strike="noStrike" cap="none">
                <a:solidFill>
                  <a:srgbClr val="002060"/>
                </a:solidFill>
                <a:latin typeface="Bookman Old Style"/>
                <a:ea typeface="Bookman Old Style"/>
                <a:cs typeface="Bookman Old Style"/>
                <a:sym typeface="Bookman Old Style"/>
              </a:defRPr>
            </a:lvl4pPr>
            <a:lvl5pPr marL="0" lvl="4" indent="0" algn="r">
              <a:spcBef>
                <a:spcPts val="0"/>
              </a:spcBef>
              <a:buNone/>
              <a:defRPr sz="1200" b="1" i="0" u="none" strike="noStrike" cap="none">
                <a:solidFill>
                  <a:srgbClr val="002060"/>
                </a:solidFill>
                <a:latin typeface="Bookman Old Style"/>
                <a:ea typeface="Bookman Old Style"/>
                <a:cs typeface="Bookman Old Style"/>
                <a:sym typeface="Bookman Old Style"/>
              </a:defRPr>
            </a:lvl5pPr>
            <a:lvl6pPr marL="0" lvl="5" indent="0" algn="r">
              <a:spcBef>
                <a:spcPts val="0"/>
              </a:spcBef>
              <a:buNone/>
              <a:defRPr sz="1200" b="1" i="0" u="none" strike="noStrike" cap="none">
                <a:solidFill>
                  <a:srgbClr val="002060"/>
                </a:solidFill>
                <a:latin typeface="Bookman Old Style"/>
                <a:ea typeface="Bookman Old Style"/>
                <a:cs typeface="Bookman Old Style"/>
                <a:sym typeface="Bookman Old Style"/>
              </a:defRPr>
            </a:lvl6pPr>
            <a:lvl7pPr marL="0" lvl="6" indent="0" algn="r">
              <a:spcBef>
                <a:spcPts val="0"/>
              </a:spcBef>
              <a:buNone/>
              <a:defRPr sz="1200" b="1" i="0" u="none" strike="noStrike" cap="none">
                <a:solidFill>
                  <a:srgbClr val="002060"/>
                </a:solidFill>
                <a:latin typeface="Bookman Old Style"/>
                <a:ea typeface="Bookman Old Style"/>
                <a:cs typeface="Bookman Old Style"/>
                <a:sym typeface="Bookman Old Style"/>
              </a:defRPr>
            </a:lvl7pPr>
            <a:lvl8pPr marL="0" lvl="7" indent="0" algn="r">
              <a:spcBef>
                <a:spcPts val="0"/>
              </a:spcBef>
              <a:buNone/>
              <a:defRPr sz="1200" b="1" i="0" u="none" strike="noStrike" cap="none">
                <a:solidFill>
                  <a:srgbClr val="002060"/>
                </a:solidFill>
                <a:latin typeface="Bookman Old Style"/>
                <a:ea typeface="Bookman Old Style"/>
                <a:cs typeface="Bookman Old Style"/>
                <a:sym typeface="Bookman Old Style"/>
              </a:defRPr>
            </a:lvl8pPr>
            <a:lvl9pPr marL="0" lvl="8" indent="0" algn="r">
              <a:spcBef>
                <a:spcPts val="0"/>
              </a:spcBef>
              <a:buNone/>
              <a:defRPr sz="1200" b="1" i="0" u="none" strike="noStrike" cap="none">
                <a:solidFill>
                  <a:srgbClr val="002060"/>
                </a:solidFill>
                <a:latin typeface="Bookman Old Style"/>
                <a:ea typeface="Bookman Old Style"/>
                <a:cs typeface="Bookman Old Style"/>
                <a:sym typeface="Bookman Old Style"/>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18"/>
          <p:cNvPicPr preferRelativeResize="0"/>
          <p:nvPr/>
        </p:nvPicPr>
        <p:blipFill rotWithShape="1">
          <a:blip r:embed="rId2">
            <a:alphaModFix/>
          </a:blip>
          <a:srcRect t="13833"/>
          <a:stretch/>
        </p:blipFill>
        <p:spPr>
          <a:xfrm>
            <a:off x="-1" y="76427"/>
            <a:ext cx="2207505" cy="99763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19"/>
          <p:cNvSpPr txBox="1">
            <a:spLocks noGrp="1"/>
          </p:cNvSpPr>
          <p:nvPr>
            <p:ph type="ctrTitle"/>
          </p:nvPr>
        </p:nvSpPr>
        <p:spPr>
          <a:xfrm>
            <a:off x="1524000" y="1195310"/>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002060"/>
              </a:buClr>
              <a:buSzPts val="6000"/>
              <a:buFont typeface="Bookman Old Style"/>
              <a:buNone/>
              <a:defRPr sz="6000">
                <a:solidFill>
                  <a:srgbClr val="002060"/>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rgbClr val="C00000"/>
              </a:buClr>
              <a:buSzPts val="2400"/>
              <a:buNone/>
              <a:defRPr sz="2400">
                <a:solidFill>
                  <a:srgbClr val="C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19"/>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9"/>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
        <p:nvSpPr>
          <p:cNvPr id="26" name="Google Shape;26;p19"/>
          <p:cNvSpPr txBox="1"/>
          <p:nvPr/>
        </p:nvSpPr>
        <p:spPr>
          <a:xfrm>
            <a:off x="4541263" y="6344368"/>
            <a:ext cx="3498933" cy="377108"/>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2400" b="1" i="1">
                <a:solidFill>
                  <a:srgbClr val="422C75"/>
                </a:solidFill>
                <a:latin typeface="Bookman Old Style"/>
                <a:ea typeface="Bookman Old Style"/>
                <a:cs typeface="Bookman Old Style"/>
                <a:sym typeface="Bookman Old Style"/>
              </a:rPr>
              <a:t>Go, change the world</a:t>
            </a:r>
            <a:endParaRPr sz="2400" b="1">
              <a:solidFill>
                <a:schemeClr val="dk1"/>
              </a:solidFill>
              <a:latin typeface="Bookman Old Style"/>
              <a:ea typeface="Bookman Old Style"/>
              <a:cs typeface="Bookman Old Style"/>
              <a:sym typeface="Bookman Old Style"/>
            </a:endParaRPr>
          </a:p>
        </p:txBody>
      </p:sp>
      <p:pic>
        <p:nvPicPr>
          <p:cNvPr id="27" name="Google Shape;27;p19"/>
          <p:cNvPicPr preferRelativeResize="0"/>
          <p:nvPr/>
        </p:nvPicPr>
        <p:blipFill rotWithShape="1">
          <a:blip r:embed="rId2">
            <a:alphaModFix/>
          </a:blip>
          <a:srcRect t="13833"/>
          <a:stretch/>
        </p:blipFill>
        <p:spPr>
          <a:xfrm>
            <a:off x="0" y="0"/>
            <a:ext cx="2207505" cy="99763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8"/>
        <p:cNvGrpSpPr/>
        <p:nvPr/>
      </p:nvGrpSpPr>
      <p:grpSpPr>
        <a:xfrm>
          <a:off x="0" y="0"/>
          <a:ext cx="0" cy="0"/>
          <a:chOff x="0" y="0"/>
          <a:chExt cx="0" cy="0"/>
        </a:xfrm>
      </p:grpSpPr>
      <p:sp>
        <p:nvSpPr>
          <p:cNvPr id="29" name="Google Shape;29;p20"/>
          <p:cNvSpPr txBox="1">
            <a:spLocks noGrp="1"/>
          </p:cNvSpPr>
          <p:nvPr>
            <p:ph type="body" idx="1"/>
          </p:nvPr>
        </p:nvSpPr>
        <p:spPr>
          <a:xfrm>
            <a:off x="268942" y="1258282"/>
            <a:ext cx="5750859" cy="491868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20"/>
          <p:cNvSpPr txBox="1">
            <a:spLocks noGrp="1"/>
          </p:cNvSpPr>
          <p:nvPr>
            <p:ph type="body" idx="2"/>
          </p:nvPr>
        </p:nvSpPr>
        <p:spPr>
          <a:xfrm>
            <a:off x="6172202" y="1258280"/>
            <a:ext cx="5795682" cy="491868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 name="Google Shape;31;p20"/>
          <p:cNvSpPr txBox="1">
            <a:spLocks noGrp="1"/>
          </p:cNvSpPr>
          <p:nvPr>
            <p:ph type="dt" idx="10"/>
          </p:nvPr>
        </p:nvSpPr>
        <p:spPr>
          <a:xfrm>
            <a:off x="26894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0"/>
          <p:cNvSpPr txBox="1">
            <a:spLocks noGrp="1"/>
          </p:cNvSpPr>
          <p:nvPr>
            <p:ph type="sldNum" idx="12"/>
          </p:nvPr>
        </p:nvSpPr>
        <p:spPr>
          <a:xfrm>
            <a:off x="9224683"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33" name="Google Shape;33;p20"/>
          <p:cNvGrpSpPr/>
          <p:nvPr/>
        </p:nvGrpSpPr>
        <p:grpSpPr>
          <a:xfrm>
            <a:off x="4862837" y="6212514"/>
            <a:ext cx="2313924" cy="600635"/>
            <a:chOff x="9682912" y="8965"/>
            <a:chExt cx="2402541" cy="600635"/>
          </a:xfrm>
        </p:grpSpPr>
        <p:sp>
          <p:nvSpPr>
            <p:cNvPr id="34" name="Google Shape;34;p20"/>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35" name="Google Shape;35;p20"/>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pic>
        <p:nvPicPr>
          <p:cNvPr id="36" name="Google Shape;36;p20"/>
          <p:cNvPicPr preferRelativeResize="0"/>
          <p:nvPr/>
        </p:nvPicPr>
        <p:blipFill rotWithShape="1">
          <a:blip r:embed="rId2">
            <a:alphaModFix/>
          </a:blip>
          <a:srcRect t="13833"/>
          <a:stretch/>
        </p:blipFill>
        <p:spPr>
          <a:xfrm>
            <a:off x="224117" y="81266"/>
            <a:ext cx="2207505" cy="99763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7"/>
        <p:cNvGrpSpPr/>
        <p:nvPr/>
      </p:nvGrpSpPr>
      <p:grpSpPr>
        <a:xfrm>
          <a:off x="0" y="0"/>
          <a:ext cx="0" cy="0"/>
          <a:chOff x="0" y="0"/>
          <a:chExt cx="0" cy="0"/>
        </a:xfrm>
      </p:grpSpPr>
      <p:sp>
        <p:nvSpPr>
          <p:cNvPr id="38" name="Google Shape;38;p21"/>
          <p:cNvSpPr txBox="1">
            <a:spLocks noGrp="1"/>
          </p:cNvSpPr>
          <p:nvPr>
            <p:ph type="title"/>
          </p:nvPr>
        </p:nvSpPr>
        <p:spPr>
          <a:xfrm>
            <a:off x="831852"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C00000"/>
              </a:buClr>
              <a:buSzPts val="5400"/>
              <a:buFont typeface="Bookman Old Style"/>
              <a:buNone/>
              <a:defRPr sz="5400">
                <a:solidFill>
                  <a:srgbClr val="C00000"/>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21"/>
          <p:cNvSpPr txBox="1">
            <a:spLocks noGrp="1"/>
          </p:cNvSpPr>
          <p:nvPr>
            <p:ph type="body" idx="1"/>
          </p:nvPr>
        </p:nvSpPr>
        <p:spPr>
          <a:xfrm>
            <a:off x="831852" y="4589464"/>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02060"/>
              </a:buClr>
              <a:buSzPts val="2400"/>
              <a:buNone/>
              <a:defRPr sz="2400">
                <a:solidFill>
                  <a:srgbClr val="002060"/>
                </a:solidFill>
                <a:latin typeface="Bookman Old Style"/>
                <a:ea typeface="Bookman Old Style"/>
                <a:cs typeface="Bookman Old Style"/>
                <a:sym typeface="Bookman Old Style"/>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0" name="Google Shape;40;p21"/>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21"/>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21"/>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43" name="Google Shape;43;p21"/>
          <p:cNvGrpSpPr/>
          <p:nvPr/>
        </p:nvGrpSpPr>
        <p:grpSpPr>
          <a:xfrm>
            <a:off x="9842217" y="17838"/>
            <a:ext cx="2313924" cy="600635"/>
            <a:chOff x="9682912" y="8965"/>
            <a:chExt cx="2402541" cy="600635"/>
          </a:xfrm>
        </p:grpSpPr>
        <p:sp>
          <p:nvSpPr>
            <p:cNvPr id="44" name="Google Shape;44;p21"/>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45" name="Google Shape;45;p21"/>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grpSp>
        <p:nvGrpSpPr>
          <p:cNvPr id="47" name="Google Shape;47;p22"/>
          <p:cNvGrpSpPr/>
          <p:nvPr/>
        </p:nvGrpSpPr>
        <p:grpSpPr>
          <a:xfrm>
            <a:off x="-35002" y="0"/>
            <a:ext cx="12191145" cy="6858000"/>
            <a:chOff x="-35003" y="-1"/>
            <a:chExt cx="12191144" cy="6858000"/>
          </a:xfrm>
        </p:grpSpPr>
        <p:sp>
          <p:nvSpPr>
            <p:cNvPr id="48" name="Google Shape;48;p22"/>
            <p:cNvSpPr/>
            <p:nvPr/>
          </p:nvSpPr>
          <p:spPr>
            <a:xfrm>
              <a:off x="-35003" y="-1"/>
              <a:ext cx="12191144"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grpSp>
          <p:nvGrpSpPr>
            <p:cNvPr id="49" name="Google Shape;49;p22"/>
            <p:cNvGrpSpPr/>
            <p:nvPr/>
          </p:nvGrpSpPr>
          <p:grpSpPr>
            <a:xfrm>
              <a:off x="0" y="-1"/>
              <a:ext cx="1174375" cy="932329"/>
              <a:chOff x="1" y="0"/>
              <a:chExt cx="995082" cy="663388"/>
            </a:xfrm>
          </p:grpSpPr>
          <p:sp>
            <p:nvSpPr>
              <p:cNvPr id="50" name="Google Shape;50;p22"/>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51" name="Google Shape;51;p22"/>
              <p:cNvSpPr/>
              <p:nvPr/>
            </p:nvSpPr>
            <p:spPr>
              <a:xfrm>
                <a:off x="73957" y="36743"/>
                <a:ext cx="383242" cy="310714"/>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grpSp>
      <p:sp>
        <p:nvSpPr>
          <p:cNvPr id="52" name="Google Shape;52;p22"/>
          <p:cNvSpPr txBox="1">
            <a:spLocks noGrp="1"/>
          </p:cNvSpPr>
          <p:nvPr>
            <p:ph type="title"/>
          </p:nvPr>
        </p:nvSpPr>
        <p:spPr>
          <a:xfrm>
            <a:off x="839789"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22"/>
          <p:cNvSpPr txBox="1">
            <a:spLocks noGrp="1"/>
          </p:cNvSpPr>
          <p:nvPr>
            <p:ph type="body" idx="1"/>
          </p:nvPr>
        </p:nvSpPr>
        <p:spPr>
          <a:xfrm>
            <a:off x="839789"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4" name="Google Shape;54;p22"/>
          <p:cNvSpPr txBox="1">
            <a:spLocks noGrp="1"/>
          </p:cNvSpPr>
          <p:nvPr>
            <p:ph type="body" idx="2"/>
          </p:nvPr>
        </p:nvSpPr>
        <p:spPr>
          <a:xfrm>
            <a:off x="839789" y="2505076"/>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22"/>
          <p:cNvSpPr txBox="1">
            <a:spLocks noGrp="1"/>
          </p:cNvSpPr>
          <p:nvPr>
            <p:ph type="body" idx="3"/>
          </p:nvPr>
        </p:nvSpPr>
        <p:spPr>
          <a:xfrm>
            <a:off x="6172202"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6" name="Google Shape;56;p22"/>
          <p:cNvSpPr txBox="1">
            <a:spLocks noGrp="1"/>
          </p:cNvSpPr>
          <p:nvPr>
            <p:ph type="body" idx="4"/>
          </p:nvPr>
        </p:nvSpPr>
        <p:spPr>
          <a:xfrm>
            <a:off x="6172202" y="2505076"/>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22"/>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22"/>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a:solidFill>
                  <a:srgbClr val="C00000"/>
                </a:solidFill>
                <a:latin typeface="Bookman Old Style"/>
                <a:ea typeface="Bookman Old Style"/>
                <a:cs typeface="Bookman Old Style"/>
                <a:sym typeface="Bookman Old Styl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2"/>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60" name="Google Shape;60;p22"/>
          <p:cNvGrpSpPr/>
          <p:nvPr/>
        </p:nvGrpSpPr>
        <p:grpSpPr>
          <a:xfrm>
            <a:off x="9842217" y="17838"/>
            <a:ext cx="2313924" cy="600635"/>
            <a:chOff x="9682912" y="8965"/>
            <a:chExt cx="2402541" cy="600635"/>
          </a:xfrm>
        </p:grpSpPr>
        <p:sp>
          <p:nvSpPr>
            <p:cNvPr id="61" name="Google Shape;61;p22"/>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62" name="Google Shape;62;p22"/>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3"/>
        <p:cNvGrpSpPr/>
        <p:nvPr/>
      </p:nvGrpSpPr>
      <p:grpSpPr>
        <a:xfrm>
          <a:off x="0" y="0"/>
          <a:ext cx="0" cy="0"/>
          <a:chOff x="0" y="0"/>
          <a:chExt cx="0" cy="0"/>
        </a:xfrm>
      </p:grpSpPr>
      <p:sp>
        <p:nvSpPr>
          <p:cNvPr id="64" name="Google Shape;64;p23"/>
          <p:cNvSpPr/>
          <p:nvPr/>
        </p:nvSpPr>
        <p:spPr>
          <a:xfrm>
            <a:off x="856" y="0"/>
            <a:ext cx="12191145"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sp>
        <p:nvSpPr>
          <p:cNvPr id="65" name="Google Shape;65;p23"/>
          <p:cNvSpPr txBox="1">
            <a:spLocks noGrp="1"/>
          </p:cNvSpPr>
          <p:nvPr>
            <p:ph type="title"/>
          </p:nvPr>
        </p:nvSpPr>
        <p:spPr>
          <a:xfrm>
            <a:off x="838202"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23"/>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3"/>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23"/>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69" name="Google Shape;69;p23"/>
          <p:cNvGrpSpPr/>
          <p:nvPr/>
        </p:nvGrpSpPr>
        <p:grpSpPr>
          <a:xfrm>
            <a:off x="0" y="1"/>
            <a:ext cx="1174375" cy="932329"/>
            <a:chOff x="1" y="0"/>
            <a:chExt cx="995082" cy="663388"/>
          </a:xfrm>
        </p:grpSpPr>
        <p:sp>
          <p:nvSpPr>
            <p:cNvPr id="70" name="Google Shape;70;p23"/>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71" name="Google Shape;71;p23"/>
            <p:cNvSpPr/>
            <p:nvPr/>
          </p:nvSpPr>
          <p:spPr>
            <a:xfrm>
              <a:off x="73957" y="36743"/>
              <a:ext cx="383242" cy="310714"/>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grpSp>
        <p:nvGrpSpPr>
          <p:cNvPr id="72" name="Google Shape;72;p23"/>
          <p:cNvGrpSpPr/>
          <p:nvPr/>
        </p:nvGrpSpPr>
        <p:grpSpPr>
          <a:xfrm>
            <a:off x="9842217" y="17838"/>
            <a:ext cx="2313924" cy="600635"/>
            <a:chOff x="9682912" y="8965"/>
            <a:chExt cx="2402541" cy="600635"/>
          </a:xfrm>
        </p:grpSpPr>
        <p:sp>
          <p:nvSpPr>
            <p:cNvPr id="73" name="Google Shape;73;p23"/>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74" name="Google Shape;74;p23"/>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5"/>
        <p:cNvGrpSpPr/>
        <p:nvPr/>
      </p:nvGrpSpPr>
      <p:grpSpPr>
        <a:xfrm>
          <a:off x="0" y="0"/>
          <a:ext cx="0" cy="0"/>
          <a:chOff x="0" y="0"/>
          <a:chExt cx="0" cy="0"/>
        </a:xfrm>
      </p:grpSpPr>
      <p:sp>
        <p:nvSpPr>
          <p:cNvPr id="76" name="Google Shape;76;p24"/>
          <p:cNvSpPr/>
          <p:nvPr/>
        </p:nvSpPr>
        <p:spPr>
          <a:xfrm>
            <a:off x="856" y="0"/>
            <a:ext cx="12191145"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sp>
        <p:nvSpPr>
          <p:cNvPr id="77" name="Google Shape;77;p24"/>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4"/>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4"/>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80" name="Google Shape;80;p24"/>
          <p:cNvGrpSpPr/>
          <p:nvPr/>
        </p:nvGrpSpPr>
        <p:grpSpPr>
          <a:xfrm>
            <a:off x="9842217" y="17838"/>
            <a:ext cx="2313924" cy="600635"/>
            <a:chOff x="9682912" y="8965"/>
            <a:chExt cx="2402541" cy="600635"/>
          </a:xfrm>
        </p:grpSpPr>
        <p:sp>
          <p:nvSpPr>
            <p:cNvPr id="81" name="Google Shape;81;p24"/>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82" name="Google Shape;82;p24"/>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grpSp>
        <p:nvGrpSpPr>
          <p:cNvPr id="83" name="Google Shape;83;p24"/>
          <p:cNvGrpSpPr/>
          <p:nvPr/>
        </p:nvGrpSpPr>
        <p:grpSpPr>
          <a:xfrm>
            <a:off x="0" y="1"/>
            <a:ext cx="1174375" cy="932329"/>
            <a:chOff x="1" y="0"/>
            <a:chExt cx="995082" cy="663388"/>
          </a:xfrm>
        </p:grpSpPr>
        <p:sp>
          <p:nvSpPr>
            <p:cNvPr id="84" name="Google Shape;84;p24"/>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85" name="Google Shape;85;p24"/>
            <p:cNvSpPr/>
            <p:nvPr/>
          </p:nvSpPr>
          <p:spPr>
            <a:xfrm>
              <a:off x="73957" y="36743"/>
              <a:ext cx="383242" cy="310714"/>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pic>
        <p:nvPicPr>
          <p:cNvPr id="86" name="Google Shape;86;p24"/>
          <p:cNvPicPr preferRelativeResize="0"/>
          <p:nvPr/>
        </p:nvPicPr>
        <p:blipFill rotWithShape="1">
          <a:blip r:embed="rId3">
            <a:alphaModFix/>
          </a:blip>
          <a:srcRect/>
          <a:stretch/>
        </p:blipFill>
        <p:spPr>
          <a:xfrm>
            <a:off x="3151096" y="1605964"/>
            <a:ext cx="5889812" cy="3646074"/>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87"/>
        <p:cNvGrpSpPr/>
        <p:nvPr/>
      </p:nvGrpSpPr>
      <p:grpSpPr>
        <a:xfrm>
          <a:off x="0" y="0"/>
          <a:ext cx="0" cy="0"/>
          <a:chOff x="0" y="0"/>
          <a:chExt cx="0" cy="0"/>
        </a:xfrm>
      </p:grpSpPr>
      <p:grpSp>
        <p:nvGrpSpPr>
          <p:cNvPr id="88" name="Google Shape;88;p25"/>
          <p:cNvGrpSpPr/>
          <p:nvPr/>
        </p:nvGrpSpPr>
        <p:grpSpPr>
          <a:xfrm>
            <a:off x="-35002" y="0"/>
            <a:ext cx="12191145" cy="6858000"/>
            <a:chOff x="-35003" y="-1"/>
            <a:chExt cx="12191144" cy="6858000"/>
          </a:xfrm>
        </p:grpSpPr>
        <p:sp>
          <p:nvSpPr>
            <p:cNvPr id="89" name="Google Shape;89;p25"/>
            <p:cNvSpPr/>
            <p:nvPr/>
          </p:nvSpPr>
          <p:spPr>
            <a:xfrm>
              <a:off x="-35003" y="-1"/>
              <a:ext cx="12191144"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grpSp>
          <p:nvGrpSpPr>
            <p:cNvPr id="90" name="Google Shape;90;p25"/>
            <p:cNvGrpSpPr/>
            <p:nvPr/>
          </p:nvGrpSpPr>
          <p:grpSpPr>
            <a:xfrm>
              <a:off x="0" y="-1"/>
              <a:ext cx="1174375" cy="932329"/>
              <a:chOff x="1" y="0"/>
              <a:chExt cx="995082" cy="663388"/>
            </a:xfrm>
          </p:grpSpPr>
          <p:sp>
            <p:nvSpPr>
              <p:cNvPr id="91" name="Google Shape;91;p25"/>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92" name="Google Shape;92;p25"/>
              <p:cNvSpPr/>
              <p:nvPr/>
            </p:nvSpPr>
            <p:spPr>
              <a:xfrm>
                <a:off x="73957" y="36743"/>
                <a:ext cx="383242" cy="310714"/>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grpSp>
      <p:sp>
        <p:nvSpPr>
          <p:cNvPr id="93" name="Google Shape;93;p25"/>
          <p:cNvSpPr txBox="1">
            <a:spLocks noGrp="1"/>
          </p:cNvSpPr>
          <p:nvPr>
            <p:ph type="title"/>
          </p:nvPr>
        </p:nvSpPr>
        <p:spPr>
          <a:xfrm>
            <a:off x="839790" y="457200"/>
            <a:ext cx="3932236"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25"/>
          <p:cNvSpPr txBox="1">
            <a:spLocks noGrp="1"/>
          </p:cNvSpPr>
          <p:nvPr>
            <p:ph type="body" idx="1"/>
          </p:nvPr>
        </p:nvSpPr>
        <p:spPr>
          <a:xfrm>
            <a:off x="5183188" y="987425"/>
            <a:ext cx="6172201"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95" name="Google Shape;95;p25"/>
          <p:cNvSpPr txBox="1">
            <a:spLocks noGrp="1"/>
          </p:cNvSpPr>
          <p:nvPr>
            <p:ph type="body" idx="2"/>
          </p:nvPr>
        </p:nvSpPr>
        <p:spPr>
          <a:xfrm>
            <a:off x="839790" y="2057400"/>
            <a:ext cx="3932236"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96" name="Google Shape;96;p25"/>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25"/>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25"/>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99" name="Google Shape;99;p25"/>
          <p:cNvGrpSpPr/>
          <p:nvPr/>
        </p:nvGrpSpPr>
        <p:grpSpPr>
          <a:xfrm>
            <a:off x="9842217" y="17838"/>
            <a:ext cx="2313924" cy="600635"/>
            <a:chOff x="9682912" y="8965"/>
            <a:chExt cx="2402541" cy="600635"/>
          </a:xfrm>
        </p:grpSpPr>
        <p:sp>
          <p:nvSpPr>
            <p:cNvPr id="100" name="Google Shape;100;p25"/>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01" name="Google Shape;101;p25"/>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02"/>
        <p:cNvGrpSpPr/>
        <p:nvPr/>
      </p:nvGrpSpPr>
      <p:grpSpPr>
        <a:xfrm>
          <a:off x="0" y="0"/>
          <a:ext cx="0" cy="0"/>
          <a:chOff x="0" y="0"/>
          <a:chExt cx="0" cy="0"/>
        </a:xfrm>
      </p:grpSpPr>
      <p:sp>
        <p:nvSpPr>
          <p:cNvPr id="103" name="Google Shape;103;p26"/>
          <p:cNvSpPr txBox="1">
            <a:spLocks noGrp="1"/>
          </p:cNvSpPr>
          <p:nvPr>
            <p:ph type="title"/>
          </p:nvPr>
        </p:nvSpPr>
        <p:spPr>
          <a:xfrm>
            <a:off x="839790" y="457200"/>
            <a:ext cx="3932236"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4" name="Google Shape;104;p26"/>
          <p:cNvSpPr>
            <a:spLocks noGrp="1"/>
          </p:cNvSpPr>
          <p:nvPr>
            <p:ph type="pic" idx="2"/>
          </p:nvPr>
        </p:nvSpPr>
        <p:spPr>
          <a:xfrm>
            <a:off x="5183188" y="987425"/>
            <a:ext cx="6172201" cy="4873625"/>
          </a:xfrm>
          <a:prstGeom prst="rect">
            <a:avLst/>
          </a:prstGeom>
          <a:noFill/>
          <a:ln>
            <a:noFill/>
          </a:ln>
        </p:spPr>
      </p:sp>
      <p:sp>
        <p:nvSpPr>
          <p:cNvPr id="105" name="Google Shape;105;p26"/>
          <p:cNvSpPr txBox="1">
            <a:spLocks noGrp="1"/>
          </p:cNvSpPr>
          <p:nvPr>
            <p:ph type="body" idx="1"/>
          </p:nvPr>
        </p:nvSpPr>
        <p:spPr>
          <a:xfrm>
            <a:off x="839790" y="2057400"/>
            <a:ext cx="3932236"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06" name="Google Shape;106;p26"/>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26"/>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8" name="Google Shape;108;p26"/>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09"/>
        <p:cNvGrpSpPr/>
        <p:nvPr/>
      </p:nvGrpSpPr>
      <p:grpSpPr>
        <a:xfrm>
          <a:off x="0" y="0"/>
          <a:ext cx="0" cy="0"/>
          <a:chOff x="0" y="0"/>
          <a:chExt cx="0" cy="0"/>
        </a:xfrm>
      </p:grpSpPr>
      <p:sp>
        <p:nvSpPr>
          <p:cNvPr id="110" name="Google Shape;110;p27"/>
          <p:cNvSpPr txBox="1">
            <a:spLocks noGrp="1"/>
          </p:cNvSpPr>
          <p:nvPr>
            <p:ph type="title"/>
          </p:nvPr>
        </p:nvSpPr>
        <p:spPr>
          <a:xfrm>
            <a:off x="838202"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1" name="Google Shape;111;p27"/>
          <p:cNvSpPr txBox="1">
            <a:spLocks noGrp="1"/>
          </p:cNvSpPr>
          <p:nvPr>
            <p:ph type="body" idx="1"/>
          </p:nvPr>
        </p:nvSpPr>
        <p:spPr>
          <a:xfrm rot="5400000">
            <a:off x="3920333"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27"/>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27"/>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27"/>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15"/>
        <p:cNvGrpSpPr/>
        <p:nvPr/>
      </p:nvGrpSpPr>
      <p:grpSpPr>
        <a:xfrm>
          <a:off x="0" y="0"/>
          <a:ext cx="0" cy="0"/>
          <a:chOff x="0" y="0"/>
          <a:chExt cx="0" cy="0"/>
        </a:xfrm>
      </p:grpSpPr>
      <p:sp>
        <p:nvSpPr>
          <p:cNvPr id="116" name="Google Shape;116;p28"/>
          <p:cNvSpPr txBox="1">
            <a:spLocks noGrp="1"/>
          </p:cNvSpPr>
          <p:nvPr>
            <p:ph type="title"/>
          </p:nvPr>
        </p:nvSpPr>
        <p:spPr>
          <a:xfrm rot="5400000">
            <a:off x="7133430"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7" name="Google Shape;117;p28"/>
          <p:cNvSpPr txBox="1">
            <a:spLocks noGrp="1"/>
          </p:cNvSpPr>
          <p:nvPr>
            <p:ph type="body" idx="1"/>
          </p:nvPr>
        </p:nvSpPr>
        <p:spPr>
          <a:xfrm rot="5400000">
            <a:off x="1799430"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8" name="Google Shape;118;p28"/>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9" name="Google Shape;119;p28"/>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0" name="Google Shape;120;p28"/>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7"/>
          <p:cNvSpPr txBox="1">
            <a:spLocks noGrp="1"/>
          </p:cNvSpPr>
          <p:nvPr>
            <p:ph type="title"/>
          </p:nvPr>
        </p:nvSpPr>
        <p:spPr>
          <a:xfrm>
            <a:off x="838202"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7"/>
          <p:cNvSpPr txBox="1">
            <a:spLocks noGrp="1"/>
          </p:cNvSpPr>
          <p:nvPr>
            <p:ph type="body" idx="1"/>
          </p:nvPr>
        </p:nvSpPr>
        <p:spPr>
          <a:xfrm>
            <a:off x="838202"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7"/>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7"/>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7"/>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6" name="Google Shape;126;p1"/>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a:t>
            </a:fld>
            <a:endParaRPr/>
          </a:p>
        </p:txBody>
      </p:sp>
      <p:pic>
        <p:nvPicPr>
          <p:cNvPr id="127" name="Google Shape;127;p1" descr="A building with a roof&#10;&#10;Description automatically generated"/>
          <p:cNvPicPr preferRelativeResize="0">
            <a:picLocks noGrp="1"/>
          </p:cNvPicPr>
          <p:nvPr>
            <p:ph type="body" idx="1"/>
          </p:nvPr>
        </p:nvPicPr>
        <p:blipFill rotWithShape="1">
          <a:blip r:embed="rId3">
            <a:alphaModFix/>
          </a:blip>
          <a:srcRect/>
          <a:stretch/>
        </p:blipFill>
        <p:spPr>
          <a:xfrm>
            <a:off x="421879" y="1067010"/>
            <a:ext cx="11421075" cy="3894085"/>
          </a:xfrm>
          <a:prstGeom prst="roundRect">
            <a:avLst>
              <a:gd name="adj" fmla="val 16667"/>
            </a:avLst>
          </a:prstGeom>
          <a:noFill/>
          <a:ln>
            <a:noFill/>
          </a:ln>
          <a:effectLst>
            <a:outerShdw blurRad="76200" dist="38100" dir="7800000" algn="tl" rotWithShape="0">
              <a:srgbClr val="000000">
                <a:alpha val="40000"/>
              </a:srgbClr>
            </a:outerShdw>
          </a:effectLst>
        </p:spPr>
      </p:pic>
      <p:sp>
        <p:nvSpPr>
          <p:cNvPr id="128" name="Google Shape;128;p1"/>
          <p:cNvSpPr/>
          <p:nvPr/>
        </p:nvSpPr>
        <p:spPr>
          <a:xfrm>
            <a:off x="349046" y="4146929"/>
            <a:ext cx="11493908" cy="1004814"/>
          </a:xfrm>
          <a:prstGeom prst="roundRect">
            <a:avLst>
              <a:gd name="adj" fmla="val 16667"/>
            </a:avLst>
          </a:prstGeom>
          <a:solidFill>
            <a:srgbClr val="00206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lvl="0" algn="ctr"/>
            <a:r>
              <a:rPr lang="en-US" sz="3000" b="1" dirty="0">
                <a:solidFill>
                  <a:srgbClr val="FF0000"/>
                </a:solidFill>
                <a:latin typeface="Bookman Old Style" panose="02050604050505020204" pitchFamily="18" charset="0"/>
              </a:rPr>
              <a:t>Context-Aware Multi-Sensor Risk System for predictive industrial hazard detection</a:t>
            </a:r>
            <a:endParaRPr sz="3000" b="1" dirty="0">
              <a:solidFill>
                <a:srgbClr val="FF0000"/>
              </a:solidFill>
              <a:latin typeface="Bookman Old Style" panose="02050604050505020204" pitchFamily="18" charset="0"/>
            </a:endParaRPr>
          </a:p>
        </p:txBody>
      </p:sp>
      <p:sp>
        <p:nvSpPr>
          <p:cNvPr id="129" name="Google Shape;129;p1"/>
          <p:cNvSpPr/>
          <p:nvPr/>
        </p:nvSpPr>
        <p:spPr>
          <a:xfrm>
            <a:off x="349045" y="5296534"/>
            <a:ext cx="11421075" cy="1004814"/>
          </a:xfrm>
          <a:prstGeom prst="roundRect">
            <a:avLst>
              <a:gd name="adj" fmla="val 16667"/>
            </a:avLst>
          </a:prstGeom>
          <a:solidFill>
            <a:srgbClr val="00206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3200" b="1" dirty="0">
                <a:solidFill>
                  <a:srgbClr val="FF0000"/>
                </a:solidFill>
                <a:latin typeface="Bookman Old Style"/>
                <a:ea typeface="Bookman Old Style"/>
                <a:cs typeface="Bookman Old Style"/>
                <a:sym typeface="Bookman Old Style"/>
              </a:rPr>
              <a:t>Emerging Technology, Innovation and Industry 4.0</a:t>
            </a:r>
            <a:endParaRPr sz="3200" dirty="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0">
          <a:extLst>
            <a:ext uri="{FF2B5EF4-FFF2-40B4-BE49-F238E27FC236}">
              <a16:creationId xmlns:a16="http://schemas.microsoft.com/office/drawing/2014/main" id="{DF152286-F81F-E0CE-CFC2-6F54F46931FF}"/>
            </a:ext>
          </a:extLst>
        </p:cNvPr>
        <p:cNvGrpSpPr/>
        <p:nvPr/>
      </p:nvGrpSpPr>
      <p:grpSpPr>
        <a:xfrm>
          <a:off x="0" y="0"/>
          <a:ext cx="0" cy="0"/>
          <a:chOff x="0" y="0"/>
          <a:chExt cx="0" cy="0"/>
        </a:xfrm>
      </p:grpSpPr>
      <p:sp>
        <p:nvSpPr>
          <p:cNvPr id="142" name="Google Shape;142;p4">
            <a:extLst>
              <a:ext uri="{FF2B5EF4-FFF2-40B4-BE49-F238E27FC236}">
                <a16:creationId xmlns:a16="http://schemas.microsoft.com/office/drawing/2014/main" id="{E6DEB55F-0B75-C86B-4B4B-12CFFCA3D5D7}"/>
              </a:ext>
            </a:extLst>
          </p:cNvPr>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2</a:t>
            </a:fld>
            <a:endParaRPr/>
          </a:p>
        </p:txBody>
      </p:sp>
      <p:sp>
        <p:nvSpPr>
          <p:cNvPr id="143" name="Google Shape;143;p4">
            <a:extLst>
              <a:ext uri="{FF2B5EF4-FFF2-40B4-BE49-F238E27FC236}">
                <a16:creationId xmlns:a16="http://schemas.microsoft.com/office/drawing/2014/main" id="{47142B0E-AEA2-7FF2-EC1E-CF645DC6FE65}"/>
              </a:ext>
            </a:extLst>
          </p:cNvPr>
          <p:cNvSpPr txBox="1"/>
          <p:nvPr/>
        </p:nvSpPr>
        <p:spPr>
          <a:xfrm>
            <a:off x="2339498" y="178833"/>
            <a:ext cx="8551282" cy="638693"/>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3200"/>
              <a:buFont typeface="Calibri"/>
              <a:buNone/>
            </a:pPr>
            <a:endParaRPr sz="3200" b="1">
              <a:solidFill>
                <a:srgbClr val="C00000"/>
              </a:solidFill>
              <a:latin typeface="Calibri"/>
              <a:ea typeface="Calibri"/>
              <a:cs typeface="Calibri"/>
              <a:sym typeface="Calibri"/>
            </a:endParaRPr>
          </a:p>
        </p:txBody>
      </p:sp>
      <p:sp>
        <p:nvSpPr>
          <p:cNvPr id="144" name="Google Shape;144;p4">
            <a:extLst>
              <a:ext uri="{FF2B5EF4-FFF2-40B4-BE49-F238E27FC236}">
                <a16:creationId xmlns:a16="http://schemas.microsoft.com/office/drawing/2014/main" id="{5FDA3E43-5288-75DD-F767-A93C254DB980}"/>
              </a:ext>
            </a:extLst>
          </p:cNvPr>
          <p:cNvSpPr txBox="1"/>
          <p:nvPr/>
        </p:nvSpPr>
        <p:spPr>
          <a:xfrm>
            <a:off x="2182762" y="89747"/>
            <a:ext cx="8151863" cy="1319953"/>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dirty="0">
                <a:solidFill>
                  <a:srgbClr val="C00000"/>
                </a:solidFill>
                <a:latin typeface="Bookman Old Style"/>
                <a:ea typeface="Bookman Old Style"/>
                <a:cs typeface="Bookman Old Style"/>
                <a:sym typeface="Bookman Old Style"/>
              </a:rPr>
              <a:t>EL Phase-II</a:t>
            </a:r>
            <a:endParaRPr dirty="0"/>
          </a:p>
          <a:p>
            <a:pPr marL="0" marR="0" lvl="0" indent="0" algn="ctr" rtl="0">
              <a:spcBef>
                <a:spcPts val="0"/>
              </a:spcBef>
              <a:spcAft>
                <a:spcPts val="0"/>
              </a:spcAft>
              <a:buNone/>
            </a:pPr>
            <a:r>
              <a:rPr lang="en-IN" sz="4000" b="1" dirty="0">
                <a:solidFill>
                  <a:srgbClr val="C00000"/>
                </a:solidFill>
                <a:latin typeface="Bookman Old Style"/>
                <a:ea typeface="Bookman Old Style"/>
                <a:cs typeface="Bookman Old Style"/>
                <a:sym typeface="Bookman Old Style"/>
              </a:rPr>
              <a:t>Presentation Outline</a:t>
            </a:r>
            <a:endParaRPr dirty="0"/>
          </a:p>
        </p:txBody>
      </p:sp>
      <p:sp>
        <p:nvSpPr>
          <p:cNvPr id="145" name="Google Shape;145;p4">
            <a:extLst>
              <a:ext uri="{FF2B5EF4-FFF2-40B4-BE49-F238E27FC236}">
                <a16:creationId xmlns:a16="http://schemas.microsoft.com/office/drawing/2014/main" id="{2E33360E-2707-AC4F-9093-CB878224C1C9}"/>
              </a:ext>
            </a:extLst>
          </p:cNvPr>
          <p:cNvSpPr txBox="1">
            <a:spLocks noGrp="1"/>
          </p:cNvSpPr>
          <p:nvPr>
            <p:ph type="body" idx="1"/>
          </p:nvPr>
        </p:nvSpPr>
        <p:spPr>
          <a:xfrm>
            <a:off x="575733" y="1666874"/>
            <a:ext cx="11441457" cy="4510087"/>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rgbClr val="002060"/>
              </a:buClr>
              <a:buSzPts val="2800"/>
              <a:buChar char="•"/>
            </a:pPr>
            <a:r>
              <a:rPr lang="en-IN" dirty="0">
                <a:solidFill>
                  <a:srgbClr val="FF0000"/>
                </a:solidFill>
              </a:rPr>
              <a:t>Introduction</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Literature Review</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Problem Definition</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Objectives</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Methodology</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Proposed Outcomes</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Timeline of the project</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Conclusion</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References</a:t>
            </a:r>
            <a:endParaRPr dirty="0">
              <a:solidFill>
                <a:srgbClr val="FF0000"/>
              </a:solidFill>
            </a:endParaRPr>
          </a:p>
        </p:txBody>
      </p:sp>
    </p:spTree>
    <p:extLst>
      <p:ext uri="{BB962C8B-B14F-4D97-AF65-F5344CB8AC3E}">
        <p14:creationId xmlns:p14="http://schemas.microsoft.com/office/powerpoint/2010/main" val="22637688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5"/>
          <p:cNvSpPr txBox="1">
            <a:spLocks noGrp="1"/>
          </p:cNvSpPr>
          <p:nvPr>
            <p:ph type="body" idx="1"/>
          </p:nvPr>
        </p:nvSpPr>
        <p:spPr>
          <a:xfrm>
            <a:off x="174813" y="1258282"/>
            <a:ext cx="11842377" cy="4918680"/>
          </a:xfrm>
          <a:prstGeom prst="rect">
            <a:avLst/>
          </a:prstGeom>
          <a:noFill/>
          <a:ln>
            <a:noFill/>
          </a:ln>
        </p:spPr>
        <p:txBody>
          <a:bodyPr spcFirstLastPara="1" wrap="square" lIns="91425" tIns="45700" rIns="91425" bIns="45700" anchor="t" anchorCtr="0">
            <a:normAutofit/>
          </a:bodyPr>
          <a:lstStyle/>
          <a:p>
            <a:pPr marL="228600" lvl="0" indent="-228600">
              <a:spcBef>
                <a:spcPts val="0"/>
              </a:spcBef>
            </a:pPr>
            <a:r>
              <a:rPr lang="en-IN" b="1" dirty="0"/>
              <a:t>Overview of the topic: </a:t>
            </a:r>
            <a:r>
              <a:rPr lang="en-US" dirty="0"/>
              <a:t>The core of this project is the development of a context-aware, trend-sensitive risk estimation framework designed specifically for safety-critical edge IoT environments, such as modern factories. </a:t>
            </a:r>
          </a:p>
          <a:p>
            <a:pPr marL="228600" lvl="0" indent="-228600">
              <a:spcBef>
                <a:spcPts val="0"/>
              </a:spcBef>
            </a:pPr>
            <a:r>
              <a:rPr lang="en-US" dirty="0"/>
              <a:t>Unlike traditional safety monitors that operate on isolated, binary sensor thresholds, this system utilizes multi-sensor fusion to integrate heterogeneous data-specifically gas concentration, ambient temperature, and human motion-into a single, continuous Risk Score.</a:t>
            </a:r>
          </a:p>
          <a:p>
            <a:pPr marL="228600" lvl="0" indent="-228600">
              <a:spcBef>
                <a:spcPts val="0"/>
              </a:spcBef>
            </a:pPr>
            <a:endParaRPr lang="en-US" dirty="0"/>
          </a:p>
          <a:p>
            <a:pPr marL="228600" lvl="0" indent="-228600">
              <a:spcBef>
                <a:spcPts val="0"/>
              </a:spcBef>
            </a:pPr>
            <a:r>
              <a:rPr lang="en-US" b="1" i="1" dirty="0"/>
              <a:t>R(t) </a:t>
            </a:r>
            <a:r>
              <a:rPr lang="en-US" b="1" dirty="0"/>
              <a:t>∈[0,1]</a:t>
            </a:r>
            <a:endParaRPr dirty="0"/>
          </a:p>
          <a:p>
            <a:pPr marL="228600" lvl="0" indent="-50800" algn="l" rtl="0">
              <a:lnSpc>
                <a:spcPct val="90000"/>
              </a:lnSpc>
              <a:spcBef>
                <a:spcPts val="1000"/>
              </a:spcBef>
              <a:spcAft>
                <a:spcPts val="0"/>
              </a:spcAft>
              <a:buClr>
                <a:srgbClr val="002060"/>
              </a:buClr>
              <a:buSzPts val="2800"/>
              <a:buNone/>
            </a:pPr>
            <a:endParaRPr dirty="0"/>
          </a:p>
        </p:txBody>
      </p:sp>
      <p:sp>
        <p:nvSpPr>
          <p:cNvPr id="152" name="Google Shape;152;p5"/>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IN"/>
              <a:t>Slide No. </a:t>
            </a:r>
            <a:fld id="{00000000-1234-1234-1234-123412341234}" type="slidenum">
              <a:rPr lang="en-IN"/>
              <a:t>3</a:t>
            </a:fld>
            <a:endParaRPr/>
          </a:p>
        </p:txBody>
      </p:sp>
      <p:sp>
        <p:nvSpPr>
          <p:cNvPr id="153" name="Google Shape;153;p5"/>
          <p:cNvSpPr txBox="1"/>
          <p:nvPr/>
        </p:nvSpPr>
        <p:spPr>
          <a:xfrm>
            <a:off x="1386895" y="145670"/>
            <a:ext cx="9834426" cy="839401"/>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Introduction</a:t>
            </a:r>
            <a:endParaRPr sz="4000" b="1">
              <a:solidFill>
                <a:srgbClr val="C00000"/>
              </a:solidFill>
              <a:latin typeface="Bookman Old Style"/>
              <a:ea typeface="Bookman Old Style"/>
              <a:cs typeface="Bookman Old Style"/>
              <a:sym typeface="Bookman Old Style"/>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9">
          <a:extLst>
            <a:ext uri="{FF2B5EF4-FFF2-40B4-BE49-F238E27FC236}">
              <a16:creationId xmlns:a16="http://schemas.microsoft.com/office/drawing/2014/main" id="{80595E26-A822-C908-468E-EC74898F6B2B}"/>
            </a:ext>
          </a:extLst>
        </p:cNvPr>
        <p:cNvGrpSpPr/>
        <p:nvPr/>
      </p:nvGrpSpPr>
      <p:grpSpPr>
        <a:xfrm>
          <a:off x="0" y="0"/>
          <a:ext cx="0" cy="0"/>
          <a:chOff x="0" y="0"/>
          <a:chExt cx="0" cy="0"/>
        </a:xfrm>
      </p:grpSpPr>
      <p:sp>
        <p:nvSpPr>
          <p:cNvPr id="150" name="Google Shape;150;p5">
            <a:extLst>
              <a:ext uri="{FF2B5EF4-FFF2-40B4-BE49-F238E27FC236}">
                <a16:creationId xmlns:a16="http://schemas.microsoft.com/office/drawing/2014/main" id="{B86B2FC0-1FD7-9D03-38E7-DC53819AC2EF}"/>
              </a:ext>
            </a:extLst>
          </p:cNvPr>
          <p:cNvSpPr txBox="1">
            <a:spLocks noGrp="1"/>
          </p:cNvSpPr>
          <p:nvPr>
            <p:ph type="body" idx="1"/>
          </p:nvPr>
        </p:nvSpPr>
        <p:spPr>
          <a:xfrm>
            <a:off x="182764" y="1234429"/>
            <a:ext cx="11842377" cy="4918680"/>
          </a:xfrm>
          <a:prstGeom prst="rect">
            <a:avLst/>
          </a:prstGeom>
          <a:noFill/>
          <a:ln>
            <a:noFill/>
          </a:ln>
        </p:spPr>
        <p:txBody>
          <a:bodyPr spcFirstLastPara="1" wrap="square" lIns="91425" tIns="45700" rIns="91425" bIns="45700" anchor="t" anchorCtr="0">
            <a:normAutofit/>
          </a:bodyPr>
          <a:lstStyle/>
          <a:p>
            <a:pPr marL="228600" lvl="0" indent="-228600">
              <a:spcBef>
                <a:spcPts val="0"/>
              </a:spcBef>
            </a:pPr>
            <a:r>
              <a:rPr lang="en-IN" b="1" dirty="0"/>
              <a:t>Importance of the topic: </a:t>
            </a:r>
            <a:r>
              <a:rPr lang="en-IN" dirty="0"/>
              <a:t>I</a:t>
            </a:r>
            <a:r>
              <a:rPr lang="en-US" dirty="0"/>
              <a:t>n industrial and residential settings, the limitations of conventional binary alarms are a significant safety risk: they often result in delayed responses, high false alarm rates, and a lack of interpretability. </a:t>
            </a:r>
          </a:p>
          <a:p>
            <a:pPr marL="228600" lvl="0" indent="-228600">
              <a:spcBef>
                <a:spcPts val="0"/>
              </a:spcBef>
            </a:pPr>
            <a:r>
              <a:rPr lang="en-US" dirty="0"/>
              <a:t>For instance, a simple gas detector may trigger an alarm regardless of whether a space is occupied or if ventilation is active, leading to "alarm fatigue" and reduced trust in automated safety protocols. </a:t>
            </a:r>
          </a:p>
          <a:p>
            <a:pPr marL="228600" lvl="0" indent="-228600">
              <a:spcBef>
                <a:spcPts val="0"/>
              </a:spcBef>
            </a:pPr>
            <a:r>
              <a:rPr lang="en-US" dirty="0"/>
              <a:t>This project is vital because it introduces contextual awareness, where factors like human motion act as "amplifiers" to risk relevance, ensuring that the system's response is proportional to the actual human threat present.</a:t>
            </a:r>
            <a:endParaRPr dirty="0"/>
          </a:p>
          <a:p>
            <a:pPr marL="228600" lvl="0" indent="-50800" algn="l" rtl="0">
              <a:lnSpc>
                <a:spcPct val="90000"/>
              </a:lnSpc>
              <a:spcBef>
                <a:spcPts val="1000"/>
              </a:spcBef>
              <a:spcAft>
                <a:spcPts val="0"/>
              </a:spcAft>
              <a:buClr>
                <a:srgbClr val="002060"/>
              </a:buClr>
              <a:buSzPts val="2800"/>
              <a:buNone/>
            </a:pPr>
            <a:endParaRPr dirty="0"/>
          </a:p>
        </p:txBody>
      </p:sp>
      <p:sp>
        <p:nvSpPr>
          <p:cNvPr id="152" name="Google Shape;152;p5">
            <a:extLst>
              <a:ext uri="{FF2B5EF4-FFF2-40B4-BE49-F238E27FC236}">
                <a16:creationId xmlns:a16="http://schemas.microsoft.com/office/drawing/2014/main" id="{01C5F862-EF07-2D83-B4CD-09760E017FF4}"/>
              </a:ext>
            </a:extLst>
          </p:cNvPr>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IN"/>
              <a:t>Slide No. </a:t>
            </a:r>
            <a:fld id="{00000000-1234-1234-1234-123412341234}" type="slidenum">
              <a:rPr lang="en-IN"/>
              <a:t>4</a:t>
            </a:fld>
            <a:endParaRPr/>
          </a:p>
        </p:txBody>
      </p:sp>
      <p:sp>
        <p:nvSpPr>
          <p:cNvPr id="153" name="Google Shape;153;p5">
            <a:extLst>
              <a:ext uri="{FF2B5EF4-FFF2-40B4-BE49-F238E27FC236}">
                <a16:creationId xmlns:a16="http://schemas.microsoft.com/office/drawing/2014/main" id="{A54B8571-66E2-535C-F541-D7E68E3786DB}"/>
              </a:ext>
            </a:extLst>
          </p:cNvPr>
          <p:cNvSpPr txBox="1"/>
          <p:nvPr/>
        </p:nvSpPr>
        <p:spPr>
          <a:xfrm>
            <a:off x="1386895" y="145670"/>
            <a:ext cx="9834426" cy="839401"/>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Introduction</a:t>
            </a:r>
            <a:endParaRPr sz="4000" b="1">
              <a:solidFill>
                <a:srgbClr val="C00000"/>
              </a:solidFill>
              <a:latin typeface="Bookman Old Style"/>
              <a:ea typeface="Bookman Old Style"/>
              <a:cs typeface="Bookman Old Style"/>
              <a:sym typeface="Bookman Old Style"/>
            </a:endParaRPr>
          </a:p>
        </p:txBody>
      </p:sp>
    </p:spTree>
    <p:extLst>
      <p:ext uri="{BB962C8B-B14F-4D97-AF65-F5344CB8AC3E}">
        <p14:creationId xmlns:p14="http://schemas.microsoft.com/office/powerpoint/2010/main" val="21780845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6"/>
          <p:cNvSpPr txBox="1">
            <a:spLocks noGrp="1"/>
          </p:cNvSpPr>
          <p:nvPr>
            <p:ph type="body" idx="1"/>
          </p:nvPr>
        </p:nvSpPr>
        <p:spPr>
          <a:xfrm>
            <a:off x="174813" y="1490132"/>
            <a:ext cx="11842377" cy="5222197"/>
          </a:xfrm>
          <a:prstGeom prst="rect">
            <a:avLst/>
          </a:prstGeom>
          <a:noFill/>
          <a:ln>
            <a:noFill/>
          </a:ln>
        </p:spPr>
        <p:txBody>
          <a:bodyPr spcFirstLastPara="1" wrap="square" lIns="91425" tIns="45700" rIns="91425" bIns="45700" anchor="t" anchorCtr="0">
            <a:normAutofit/>
          </a:bodyPr>
          <a:lstStyle/>
          <a:p>
            <a:pPr marL="228600" lvl="0" indent="-228600">
              <a:spcBef>
                <a:spcPts val="0"/>
              </a:spcBef>
            </a:pPr>
            <a:r>
              <a:rPr lang="en-US" b="1" dirty="0"/>
              <a:t>Multi-Sensor Reliability:</a:t>
            </a:r>
            <a:r>
              <a:rPr lang="en-US" dirty="0"/>
              <a:t> Luo &amp; Chen (2002) established that integrating data from heterogeneous sources reduces environmental uncertainty and increases overall system reliability compared to single-sensor setups .</a:t>
            </a:r>
          </a:p>
          <a:p>
            <a:pPr marL="228600" lvl="0" indent="-228600">
              <a:spcBef>
                <a:spcPts val="0"/>
              </a:spcBef>
            </a:pPr>
            <a:r>
              <a:rPr lang="en-IN" b="1" dirty="0"/>
              <a:t>Trends in Literature:</a:t>
            </a:r>
            <a:r>
              <a:rPr lang="en-US" dirty="0"/>
              <a:t>Shifting from isolated sensor thresholds to integrated multi-sensor data fusion, Transitioning from reactive hazard detection to predictive, trend-based alerting.</a:t>
            </a:r>
            <a:endParaRPr dirty="0"/>
          </a:p>
          <a:p>
            <a:pPr marL="228600" lvl="0" indent="-228600"/>
            <a:r>
              <a:rPr lang="en-IN" b="1" dirty="0"/>
              <a:t>Theoretical Framework: </a:t>
            </a:r>
            <a:r>
              <a:rPr lang="en-US" dirty="0"/>
              <a:t>Utilizing a four-layer Cyber-Physical System architecture for deterministic execution.</a:t>
            </a:r>
            <a:endParaRPr b="1" dirty="0"/>
          </a:p>
          <a:p>
            <a:pPr marL="228600" lvl="0" indent="-228600"/>
            <a:r>
              <a:rPr lang="en-IN" b="1" dirty="0"/>
              <a:t>Relevance to current research: </a:t>
            </a:r>
            <a:r>
              <a:rPr lang="en-US" dirty="0"/>
              <a:t>Mitigates alarm fatigue by validating hazards across multiple environmental sensors.</a:t>
            </a:r>
            <a:endParaRPr dirty="0"/>
          </a:p>
        </p:txBody>
      </p:sp>
      <p:sp>
        <p:nvSpPr>
          <p:cNvPr id="160" name="Google Shape;160;p6"/>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5</a:t>
            </a:fld>
            <a:endParaRPr/>
          </a:p>
        </p:txBody>
      </p:sp>
      <p:sp>
        <p:nvSpPr>
          <p:cNvPr id="161" name="Google Shape;161;p6"/>
          <p:cNvSpPr txBox="1"/>
          <p:nvPr/>
        </p:nvSpPr>
        <p:spPr>
          <a:xfrm>
            <a:off x="1710268" y="89747"/>
            <a:ext cx="9939866" cy="943186"/>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dirty="0">
                <a:solidFill>
                  <a:srgbClr val="C00000"/>
                </a:solidFill>
                <a:latin typeface="Bookman Old Style"/>
                <a:ea typeface="Bookman Old Style"/>
                <a:cs typeface="Bookman Old Style"/>
                <a:sym typeface="Bookman Old Style"/>
              </a:rPr>
              <a:t>Literature Review</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5">
          <a:extLst>
            <a:ext uri="{FF2B5EF4-FFF2-40B4-BE49-F238E27FC236}">
              <a16:creationId xmlns:a16="http://schemas.microsoft.com/office/drawing/2014/main" id="{974EEE18-DD4A-2CAE-7F1C-C1B96A7BA08C}"/>
            </a:ext>
          </a:extLst>
        </p:cNvPr>
        <p:cNvGrpSpPr/>
        <p:nvPr/>
      </p:nvGrpSpPr>
      <p:grpSpPr>
        <a:xfrm>
          <a:off x="0" y="0"/>
          <a:ext cx="0" cy="0"/>
          <a:chOff x="0" y="0"/>
          <a:chExt cx="0" cy="0"/>
        </a:xfrm>
      </p:grpSpPr>
      <p:sp>
        <p:nvSpPr>
          <p:cNvPr id="166" name="Google Shape;166;p7">
            <a:extLst>
              <a:ext uri="{FF2B5EF4-FFF2-40B4-BE49-F238E27FC236}">
                <a16:creationId xmlns:a16="http://schemas.microsoft.com/office/drawing/2014/main" id="{EBA1DC47-C9A0-045A-47CB-721A659690EF}"/>
              </a:ext>
            </a:extLst>
          </p:cNvPr>
          <p:cNvSpPr txBox="1">
            <a:spLocks noGrp="1"/>
          </p:cNvSpPr>
          <p:nvPr>
            <p:ph type="body" idx="1"/>
          </p:nvPr>
        </p:nvSpPr>
        <p:spPr>
          <a:xfrm>
            <a:off x="174813" y="1076325"/>
            <a:ext cx="11842377" cy="5636005"/>
          </a:xfrm>
          <a:prstGeom prst="rect">
            <a:avLst/>
          </a:prstGeom>
          <a:noFill/>
          <a:ln>
            <a:noFill/>
          </a:ln>
        </p:spPr>
        <p:txBody>
          <a:bodyPr spcFirstLastPara="1" wrap="square" lIns="91425" tIns="45700" rIns="91425" bIns="45700" anchor="t" anchorCtr="0">
            <a:normAutofit/>
          </a:bodyPr>
          <a:lstStyle/>
          <a:p>
            <a:pPr marL="228600" lvl="0" indent="-228600">
              <a:spcBef>
                <a:spcPts val="0"/>
              </a:spcBef>
            </a:pPr>
            <a:r>
              <a:rPr lang="en-IN" b="1" dirty="0"/>
              <a:t>Clear statement of the problem: </a:t>
            </a:r>
            <a:r>
              <a:rPr lang="en-US" dirty="0"/>
              <a:t>The primary problem addressed by this project is the inherent limitation of conventional safety monitoring systems, which rely on isolated sensor thresholds and binary "safe/unsafe" alarms. </a:t>
            </a:r>
          </a:p>
          <a:p>
            <a:pPr marL="228600" lvl="0" indent="-228600">
              <a:spcBef>
                <a:spcPts val="0"/>
              </a:spcBef>
            </a:pPr>
            <a:r>
              <a:rPr lang="en-US" dirty="0"/>
              <a:t>In complex environments like factories, hazards rarely emerge from a single isolated factor; instead, they result from the interaction of multiple environmental conditions. </a:t>
            </a:r>
          </a:p>
          <a:p>
            <a:pPr marL="228600" lvl="0" indent="-228600">
              <a:spcBef>
                <a:spcPts val="0"/>
              </a:spcBef>
            </a:pPr>
            <a:r>
              <a:rPr lang="en-US" dirty="0"/>
              <a:t>Standard systems fail to capture these contextual relationships, leading to a high frequency of false positives and, more dangerously, delayed responses to evolving threats that have not yet crossed a fixed limit.</a:t>
            </a:r>
            <a:endParaRPr dirty="0"/>
          </a:p>
          <a:p>
            <a:pPr marL="0" lvl="0" indent="0" algn="l" rtl="0">
              <a:lnSpc>
                <a:spcPct val="90000"/>
              </a:lnSpc>
              <a:spcBef>
                <a:spcPts val="1000"/>
              </a:spcBef>
              <a:spcAft>
                <a:spcPts val="0"/>
              </a:spcAft>
              <a:buClr>
                <a:srgbClr val="002060"/>
              </a:buClr>
              <a:buSzPts val="2800"/>
              <a:buNone/>
            </a:pPr>
            <a:endParaRPr dirty="0"/>
          </a:p>
        </p:txBody>
      </p:sp>
      <p:sp>
        <p:nvSpPr>
          <p:cNvPr id="168" name="Google Shape;168;p7">
            <a:extLst>
              <a:ext uri="{FF2B5EF4-FFF2-40B4-BE49-F238E27FC236}">
                <a16:creationId xmlns:a16="http://schemas.microsoft.com/office/drawing/2014/main" id="{619464DB-F5BE-2FA1-D79B-A624B083FF01}"/>
              </a:ext>
            </a:extLst>
          </p:cNvPr>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6</a:t>
            </a:fld>
            <a:endParaRPr/>
          </a:p>
        </p:txBody>
      </p:sp>
      <p:sp>
        <p:nvSpPr>
          <p:cNvPr id="169" name="Google Shape;169;p7">
            <a:extLst>
              <a:ext uri="{FF2B5EF4-FFF2-40B4-BE49-F238E27FC236}">
                <a16:creationId xmlns:a16="http://schemas.microsoft.com/office/drawing/2014/main" id="{A501DE2E-5AC4-2840-B328-81932ED6DD79}"/>
              </a:ext>
            </a:extLst>
          </p:cNvPr>
          <p:cNvSpPr txBox="1"/>
          <p:nvPr/>
        </p:nvSpPr>
        <p:spPr>
          <a:xfrm>
            <a:off x="1503705" y="0"/>
            <a:ext cx="10227733" cy="1076325"/>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3600" b="1">
                <a:solidFill>
                  <a:srgbClr val="C00000"/>
                </a:solidFill>
                <a:latin typeface="Bookman Old Style"/>
                <a:ea typeface="Bookman Old Style"/>
                <a:cs typeface="Bookman Old Style"/>
                <a:sym typeface="Bookman Old Style"/>
              </a:rPr>
              <a:t>Problem Definition</a:t>
            </a:r>
            <a:endParaRPr sz="3600" b="1">
              <a:solidFill>
                <a:srgbClr val="C00000"/>
              </a:solidFill>
              <a:latin typeface="Bookman Old Style"/>
              <a:ea typeface="Bookman Old Style"/>
              <a:cs typeface="Bookman Old Style"/>
              <a:sym typeface="Bookman Old Style"/>
            </a:endParaRPr>
          </a:p>
        </p:txBody>
      </p:sp>
    </p:spTree>
    <p:extLst>
      <p:ext uri="{BB962C8B-B14F-4D97-AF65-F5344CB8AC3E}">
        <p14:creationId xmlns:p14="http://schemas.microsoft.com/office/powerpoint/2010/main" val="22775395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7"/>
          <p:cNvSpPr txBox="1">
            <a:spLocks noGrp="1"/>
          </p:cNvSpPr>
          <p:nvPr>
            <p:ph type="body" idx="1"/>
          </p:nvPr>
        </p:nvSpPr>
        <p:spPr>
          <a:xfrm>
            <a:off x="174813" y="1084276"/>
            <a:ext cx="11842377" cy="5636005"/>
          </a:xfrm>
          <a:prstGeom prst="rect">
            <a:avLst/>
          </a:prstGeom>
          <a:noFill/>
          <a:ln>
            <a:noFill/>
          </a:ln>
        </p:spPr>
        <p:txBody>
          <a:bodyPr spcFirstLastPara="1" wrap="square" lIns="91425" tIns="45700" rIns="91425" bIns="45700" anchor="t" anchorCtr="0">
            <a:normAutofit/>
          </a:bodyPr>
          <a:lstStyle/>
          <a:p>
            <a:pPr marL="228600" lvl="0" indent="-228600"/>
            <a:r>
              <a:rPr lang="en-US" b="1" dirty="0"/>
              <a:t>Context of the Problem: </a:t>
            </a:r>
            <a:r>
              <a:rPr lang="en-US" dirty="0"/>
              <a:t>While modern Internet of Things (IoT) technologies allow for the deployment of multiple sensors, most existing implementations continue to process these data streams independently, failing to exploit their combined informational value. </a:t>
            </a:r>
          </a:p>
          <a:p>
            <a:pPr marL="228600" lvl="0" indent="-228600"/>
            <a:r>
              <a:rPr lang="en-US" dirty="0"/>
              <a:t>High-end solutions involving machine learning attempt to bridge this gap but often require extensive computational resources and processing that lacks transparency. </a:t>
            </a:r>
          </a:p>
          <a:p>
            <a:pPr marL="228600" lvl="0" indent="-228600"/>
            <a:r>
              <a:rPr lang="en-US" dirty="0"/>
              <a:t>This creates a significant gap for resource-constrained, low-cost embedded environments where explainability, reliability, and real-time performance are paramount. </a:t>
            </a:r>
          </a:p>
        </p:txBody>
      </p:sp>
      <p:sp>
        <p:nvSpPr>
          <p:cNvPr id="168" name="Google Shape;168;p7"/>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7</a:t>
            </a:fld>
            <a:endParaRPr/>
          </a:p>
        </p:txBody>
      </p:sp>
      <p:sp>
        <p:nvSpPr>
          <p:cNvPr id="169" name="Google Shape;169;p7"/>
          <p:cNvSpPr txBox="1"/>
          <p:nvPr/>
        </p:nvSpPr>
        <p:spPr>
          <a:xfrm>
            <a:off x="1503705" y="0"/>
            <a:ext cx="10227733" cy="1076325"/>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3600" b="1">
                <a:solidFill>
                  <a:srgbClr val="C00000"/>
                </a:solidFill>
                <a:latin typeface="Bookman Old Style"/>
                <a:ea typeface="Bookman Old Style"/>
                <a:cs typeface="Bookman Old Style"/>
                <a:sym typeface="Bookman Old Style"/>
              </a:rPr>
              <a:t>Problem Definition</a:t>
            </a:r>
            <a:endParaRPr sz="3600" b="1">
              <a:solidFill>
                <a:srgbClr val="C00000"/>
              </a:solidFill>
              <a:latin typeface="Bookman Old Style"/>
              <a:ea typeface="Bookman Old Style"/>
              <a:cs typeface="Bookman Old Style"/>
              <a:sym typeface="Bookman Old Style"/>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5">
          <a:extLst>
            <a:ext uri="{FF2B5EF4-FFF2-40B4-BE49-F238E27FC236}">
              <a16:creationId xmlns:a16="http://schemas.microsoft.com/office/drawing/2014/main" id="{621882E1-4B68-58F0-E288-2C615D086B85}"/>
            </a:ext>
          </a:extLst>
        </p:cNvPr>
        <p:cNvGrpSpPr/>
        <p:nvPr/>
      </p:nvGrpSpPr>
      <p:grpSpPr>
        <a:xfrm>
          <a:off x="0" y="0"/>
          <a:ext cx="0" cy="0"/>
          <a:chOff x="0" y="0"/>
          <a:chExt cx="0" cy="0"/>
        </a:xfrm>
      </p:grpSpPr>
      <p:sp>
        <p:nvSpPr>
          <p:cNvPr id="166" name="Google Shape;166;p7">
            <a:extLst>
              <a:ext uri="{FF2B5EF4-FFF2-40B4-BE49-F238E27FC236}">
                <a16:creationId xmlns:a16="http://schemas.microsoft.com/office/drawing/2014/main" id="{798233EE-8660-9B39-2C38-084F4F9E3E9F}"/>
              </a:ext>
            </a:extLst>
          </p:cNvPr>
          <p:cNvSpPr txBox="1">
            <a:spLocks noGrp="1"/>
          </p:cNvSpPr>
          <p:nvPr>
            <p:ph type="body" idx="1"/>
          </p:nvPr>
        </p:nvSpPr>
        <p:spPr>
          <a:xfrm>
            <a:off x="174813" y="1076325"/>
            <a:ext cx="11842377" cy="563600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1000"/>
              </a:spcBef>
              <a:spcAft>
                <a:spcPts val="0"/>
              </a:spcAft>
              <a:buClr>
                <a:srgbClr val="002060"/>
              </a:buClr>
              <a:buSzPts val="2800"/>
              <a:buChar char="•"/>
            </a:pPr>
            <a:r>
              <a:rPr lang="en-IN" b="1" dirty="0"/>
              <a:t>Significance of Addressing the Problem:</a:t>
            </a:r>
          </a:p>
          <a:p>
            <a:pPr marL="0" indent="0">
              <a:buNone/>
            </a:pPr>
            <a:r>
              <a:rPr lang="en-US" dirty="0"/>
              <a:t>  Without addressing this, industrial safety remains reactive rather than predictive, leaving workers and infrastructure vulnerable to incipient hazards.</a:t>
            </a:r>
          </a:p>
          <a:p>
            <a:pPr marL="228600" lvl="0" indent="-228600" algn="l" rtl="0">
              <a:lnSpc>
                <a:spcPct val="90000"/>
              </a:lnSpc>
              <a:spcBef>
                <a:spcPts val="1000"/>
              </a:spcBef>
              <a:spcAft>
                <a:spcPts val="0"/>
              </a:spcAft>
              <a:buClr>
                <a:srgbClr val="002060"/>
              </a:buClr>
              <a:buSzPts val="2800"/>
              <a:buChar char="•"/>
            </a:pPr>
            <a:endParaRPr dirty="0"/>
          </a:p>
        </p:txBody>
      </p:sp>
      <p:sp>
        <p:nvSpPr>
          <p:cNvPr id="168" name="Google Shape;168;p7">
            <a:extLst>
              <a:ext uri="{FF2B5EF4-FFF2-40B4-BE49-F238E27FC236}">
                <a16:creationId xmlns:a16="http://schemas.microsoft.com/office/drawing/2014/main" id="{53CA81E6-BF05-C30D-FA26-A593B68F4A29}"/>
              </a:ext>
            </a:extLst>
          </p:cNvPr>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8</a:t>
            </a:fld>
            <a:endParaRPr/>
          </a:p>
        </p:txBody>
      </p:sp>
      <p:sp>
        <p:nvSpPr>
          <p:cNvPr id="169" name="Google Shape;169;p7">
            <a:extLst>
              <a:ext uri="{FF2B5EF4-FFF2-40B4-BE49-F238E27FC236}">
                <a16:creationId xmlns:a16="http://schemas.microsoft.com/office/drawing/2014/main" id="{E1A232B2-BB41-5921-B79A-2F5B6C1E7D55}"/>
              </a:ext>
            </a:extLst>
          </p:cNvPr>
          <p:cNvSpPr txBox="1"/>
          <p:nvPr/>
        </p:nvSpPr>
        <p:spPr>
          <a:xfrm>
            <a:off x="1503705" y="0"/>
            <a:ext cx="10227733" cy="1076325"/>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3600" b="1">
                <a:solidFill>
                  <a:srgbClr val="C00000"/>
                </a:solidFill>
                <a:latin typeface="Bookman Old Style"/>
                <a:ea typeface="Bookman Old Style"/>
                <a:cs typeface="Bookman Old Style"/>
                <a:sym typeface="Bookman Old Style"/>
              </a:rPr>
              <a:t>Problem Definition</a:t>
            </a:r>
            <a:endParaRPr sz="3600" b="1">
              <a:solidFill>
                <a:srgbClr val="C00000"/>
              </a:solidFill>
              <a:latin typeface="Bookman Old Style"/>
              <a:ea typeface="Bookman Old Style"/>
              <a:cs typeface="Bookman Old Style"/>
              <a:sym typeface="Bookman Old Style"/>
            </a:endParaRPr>
          </a:p>
        </p:txBody>
      </p:sp>
    </p:spTree>
    <p:extLst>
      <p:ext uri="{BB962C8B-B14F-4D97-AF65-F5344CB8AC3E}">
        <p14:creationId xmlns:p14="http://schemas.microsoft.com/office/powerpoint/2010/main" val="27463398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8"/>
          <p:cNvSpPr txBox="1">
            <a:spLocks noGrp="1"/>
          </p:cNvSpPr>
          <p:nvPr>
            <p:ph type="body" idx="1"/>
          </p:nvPr>
        </p:nvSpPr>
        <p:spPr>
          <a:xfrm>
            <a:off x="342900" y="1258282"/>
            <a:ext cx="11496675" cy="5454048"/>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spcBef>
                <a:spcPts val="0"/>
              </a:spcBef>
            </a:pPr>
            <a:r>
              <a:rPr lang="en-IN" b="1" dirty="0"/>
              <a:t>Main Objective: </a:t>
            </a:r>
            <a:r>
              <a:rPr lang="en-US" dirty="0"/>
              <a:t>The primary goal of this project is to design and implement a lightweight, explainable, and context-aware risk modeling framework that transforms heterogeneous sensor data into a unified, continuous risk score </a:t>
            </a:r>
            <a:r>
              <a:rPr lang="en-US" i="1" dirty="0"/>
              <a:t>R(t) </a:t>
            </a:r>
            <a:r>
              <a:rPr lang="en-US" dirty="0"/>
              <a:t>for real-time industrial safety monitoring .</a:t>
            </a:r>
            <a:endParaRPr dirty="0"/>
          </a:p>
          <a:p>
            <a:pPr marL="228600" lvl="0" indent="-228600"/>
            <a:r>
              <a:rPr lang="en-IN" b="1" dirty="0"/>
              <a:t>Specific Objectives:-</a:t>
            </a:r>
          </a:p>
          <a:p>
            <a:pPr marL="228600" lvl="0" indent="-228600"/>
            <a:r>
              <a:rPr lang="en-US" dirty="0"/>
              <a:t>Multi-Sensor Data Normalization: To develop a robust strategy for normalizing disparate sensor inputs-gas concentration, temperature, and motion-into a common mathematical scale to facilitate effective fusion.</a:t>
            </a:r>
          </a:p>
          <a:p>
            <a:pPr marL="228600" lvl="0" indent="-228600"/>
            <a:r>
              <a:rPr lang="en-US" dirty="0"/>
              <a:t>Temporal Trend Integration</a:t>
            </a:r>
            <a:r>
              <a:rPr lang="en-US" b="1" dirty="0"/>
              <a:t>:</a:t>
            </a:r>
            <a:r>
              <a:rPr lang="en-US" dirty="0"/>
              <a:t> To implement a short-term history buffer and rate-of-change analysis for temperature data, enabling the system to identify hazardous trends before they reach critical thresholds.</a:t>
            </a:r>
            <a:endParaRPr dirty="0"/>
          </a:p>
        </p:txBody>
      </p:sp>
      <p:sp>
        <p:nvSpPr>
          <p:cNvPr id="176" name="Google Shape;176;p8"/>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9</a:t>
            </a:fld>
            <a:endParaRPr/>
          </a:p>
        </p:txBody>
      </p:sp>
      <p:sp>
        <p:nvSpPr>
          <p:cNvPr id="177" name="Google Shape;177;p8"/>
          <p:cNvSpPr txBox="1"/>
          <p:nvPr/>
        </p:nvSpPr>
        <p:spPr>
          <a:xfrm>
            <a:off x="2191229" y="0"/>
            <a:ext cx="8146571" cy="1032933"/>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Objectives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33471E38-7088-5105-4F3F-A616F0E4E732}"/>
            </a:ext>
          </a:extLst>
        </p:cNvPr>
        <p:cNvGrpSpPr/>
        <p:nvPr/>
      </p:nvGrpSpPr>
      <p:grpSpPr>
        <a:xfrm>
          <a:off x="0" y="0"/>
          <a:ext cx="0" cy="0"/>
          <a:chOff x="0" y="0"/>
          <a:chExt cx="0" cy="0"/>
        </a:xfrm>
      </p:grpSpPr>
      <p:sp>
        <p:nvSpPr>
          <p:cNvPr id="174" name="Google Shape;174;p8">
            <a:extLst>
              <a:ext uri="{FF2B5EF4-FFF2-40B4-BE49-F238E27FC236}">
                <a16:creationId xmlns:a16="http://schemas.microsoft.com/office/drawing/2014/main" id="{7F88A52D-0A35-F051-DF18-D6CAF2778B79}"/>
              </a:ext>
            </a:extLst>
          </p:cNvPr>
          <p:cNvSpPr txBox="1">
            <a:spLocks noGrp="1"/>
          </p:cNvSpPr>
          <p:nvPr>
            <p:ph type="body" idx="1"/>
          </p:nvPr>
        </p:nvSpPr>
        <p:spPr>
          <a:xfrm>
            <a:off x="342900" y="1258282"/>
            <a:ext cx="11496675" cy="5454048"/>
          </a:xfrm>
          <a:prstGeom prst="rect">
            <a:avLst/>
          </a:prstGeom>
          <a:noFill/>
          <a:ln>
            <a:noFill/>
          </a:ln>
        </p:spPr>
        <p:txBody>
          <a:bodyPr spcFirstLastPara="1" wrap="square" lIns="91425" tIns="45700" rIns="91425" bIns="45700" anchor="t" anchorCtr="0">
            <a:normAutofit/>
          </a:bodyPr>
          <a:lstStyle/>
          <a:p>
            <a:pPr marL="228600" lvl="0" indent="-228600">
              <a:spcBef>
                <a:spcPts val="0"/>
              </a:spcBef>
            </a:pPr>
            <a:r>
              <a:rPr lang="en-US" dirty="0"/>
              <a:t>Weighted Fusion &amp; Classification: To design a deterministic decision engine that applies empirically derived weights to environmental factors, mapping the resulting score to discrete safety states (Safe, Warning, Danger).</a:t>
            </a:r>
            <a:endParaRPr lang="en-IN" b="1" dirty="0"/>
          </a:p>
          <a:p>
            <a:pPr marL="228600" lvl="0" indent="-228600">
              <a:spcBef>
                <a:spcPts val="0"/>
              </a:spcBef>
            </a:pPr>
            <a:endParaRPr lang="en-IN" b="1" dirty="0"/>
          </a:p>
          <a:p>
            <a:pPr marL="228600" lvl="0" indent="-228600">
              <a:spcBef>
                <a:spcPts val="0"/>
              </a:spcBef>
            </a:pPr>
            <a:r>
              <a:rPr lang="en-IN" b="1" dirty="0"/>
              <a:t>Expected Contributions to the Field: </a:t>
            </a:r>
            <a:r>
              <a:rPr lang="en-US" dirty="0"/>
              <a:t>By achieving these objectives, the project contributes a practical system design that bridges the gap between simple threshold detectors and complex AI-driven safety systems. It provides a blueprint for Explainable AI in the IoT space, where every safety alert can be explicitly traced back to its contributing environmental factors, ensuring accountability in safety-critical deployments.</a:t>
            </a:r>
            <a:endParaRPr dirty="0"/>
          </a:p>
        </p:txBody>
      </p:sp>
      <p:sp>
        <p:nvSpPr>
          <p:cNvPr id="176" name="Google Shape;176;p8">
            <a:extLst>
              <a:ext uri="{FF2B5EF4-FFF2-40B4-BE49-F238E27FC236}">
                <a16:creationId xmlns:a16="http://schemas.microsoft.com/office/drawing/2014/main" id="{FF2BE6F7-864A-8530-A8BC-763FF8DF8A8D}"/>
              </a:ext>
            </a:extLst>
          </p:cNvPr>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10</a:t>
            </a:fld>
            <a:endParaRPr/>
          </a:p>
        </p:txBody>
      </p:sp>
      <p:sp>
        <p:nvSpPr>
          <p:cNvPr id="177" name="Google Shape;177;p8">
            <a:extLst>
              <a:ext uri="{FF2B5EF4-FFF2-40B4-BE49-F238E27FC236}">
                <a16:creationId xmlns:a16="http://schemas.microsoft.com/office/drawing/2014/main" id="{77D7CEB4-307E-4CF5-2013-6C943FA1F797}"/>
              </a:ext>
            </a:extLst>
          </p:cNvPr>
          <p:cNvSpPr txBox="1"/>
          <p:nvPr/>
        </p:nvSpPr>
        <p:spPr>
          <a:xfrm>
            <a:off x="2191229" y="0"/>
            <a:ext cx="8146571" cy="1032933"/>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Objectives</a:t>
            </a:r>
            <a:endParaRPr/>
          </a:p>
        </p:txBody>
      </p:sp>
    </p:spTree>
    <p:extLst>
      <p:ext uri="{BB962C8B-B14F-4D97-AF65-F5344CB8AC3E}">
        <p14:creationId xmlns:p14="http://schemas.microsoft.com/office/powerpoint/2010/main" val="40494679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9"/>
          <p:cNvSpPr txBox="1">
            <a:spLocks noGrp="1"/>
          </p:cNvSpPr>
          <p:nvPr>
            <p:ph type="body" idx="1"/>
          </p:nvPr>
        </p:nvSpPr>
        <p:spPr>
          <a:xfrm>
            <a:off x="174811" y="1069220"/>
            <a:ext cx="11842377" cy="5277985"/>
          </a:xfrm>
          <a:prstGeom prst="rect">
            <a:avLst/>
          </a:prstGeom>
          <a:noFill/>
          <a:ln>
            <a:noFill/>
          </a:ln>
        </p:spPr>
        <p:txBody>
          <a:bodyPr spcFirstLastPara="1" wrap="square" lIns="91425" tIns="45700" rIns="91425" bIns="45700" anchor="t" anchorCtr="0">
            <a:normAutofit lnSpcReduction="10000"/>
          </a:bodyPr>
          <a:lstStyle/>
          <a:p>
            <a:pPr marL="228600" lvl="0" indent="-228600">
              <a:spcBef>
                <a:spcPts val="0"/>
              </a:spcBef>
            </a:pPr>
            <a:r>
              <a:rPr lang="en-IN" b="1" dirty="0"/>
              <a:t>Design: </a:t>
            </a:r>
            <a:r>
              <a:rPr lang="en-US" dirty="0"/>
              <a:t>The project employs a quantitative, layered architecture consisting of a Sensing Layer for data acquisition, a Data Processing Layer for signal conditioning, a Decision Layer for risk evaluation, and an Actuation Layer for real-time feedback. The design is specifically engineered for deterministic behavior, ensuring that every update cycle executes in constant time to meet low-latency requirements.</a:t>
            </a:r>
            <a:endParaRPr dirty="0"/>
          </a:p>
          <a:p>
            <a:pPr marL="228600" lvl="0" indent="-228600"/>
            <a:r>
              <a:rPr lang="en-IN" b="1" dirty="0"/>
              <a:t>Data Collection Methods: </a:t>
            </a:r>
            <a:r>
              <a:rPr lang="en-US" dirty="0"/>
              <a:t>Data is gathered through heterogeneous sensing, utilizing MQ-series gas sensors for analog concentration levels, DHT-series digital sensors for temperature, and Passive Infrared (PIR) sensors for motion detection . To process this data, we implement normalization techniques that convert disparate physical units into a bounded mathematical scale.</a:t>
            </a:r>
            <a:endParaRPr dirty="0"/>
          </a:p>
        </p:txBody>
      </p:sp>
      <p:sp>
        <p:nvSpPr>
          <p:cNvPr id="184" name="Google Shape;184;p9"/>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11</a:t>
            </a:fld>
            <a:endParaRPr/>
          </a:p>
        </p:txBody>
      </p:sp>
      <p:sp>
        <p:nvSpPr>
          <p:cNvPr id="185" name="Google Shape;185;p9"/>
          <p:cNvSpPr txBox="1"/>
          <p:nvPr/>
        </p:nvSpPr>
        <p:spPr>
          <a:xfrm>
            <a:off x="2284362" y="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Methodology</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1">
          <a:extLst>
            <a:ext uri="{FF2B5EF4-FFF2-40B4-BE49-F238E27FC236}">
              <a16:creationId xmlns:a16="http://schemas.microsoft.com/office/drawing/2014/main" id="{E07B3C78-E64A-D8E9-53C7-88637B84E10F}"/>
            </a:ext>
          </a:extLst>
        </p:cNvPr>
        <p:cNvGrpSpPr/>
        <p:nvPr/>
      </p:nvGrpSpPr>
      <p:grpSpPr>
        <a:xfrm>
          <a:off x="0" y="0"/>
          <a:ext cx="0" cy="0"/>
          <a:chOff x="0" y="0"/>
          <a:chExt cx="0" cy="0"/>
        </a:xfrm>
      </p:grpSpPr>
      <p:sp>
        <p:nvSpPr>
          <p:cNvPr id="182" name="Google Shape;182;p9">
            <a:extLst>
              <a:ext uri="{FF2B5EF4-FFF2-40B4-BE49-F238E27FC236}">
                <a16:creationId xmlns:a16="http://schemas.microsoft.com/office/drawing/2014/main" id="{73376609-E7BB-1F09-ED85-A4C4876B655B}"/>
              </a:ext>
            </a:extLst>
          </p:cNvPr>
          <p:cNvSpPr txBox="1">
            <a:spLocks noGrp="1"/>
          </p:cNvSpPr>
          <p:nvPr>
            <p:ph type="body" idx="1"/>
          </p:nvPr>
        </p:nvSpPr>
        <p:spPr>
          <a:xfrm>
            <a:off x="174811" y="1021512"/>
            <a:ext cx="11842377" cy="5277985"/>
          </a:xfrm>
          <a:prstGeom prst="rect">
            <a:avLst/>
          </a:prstGeom>
          <a:noFill/>
          <a:ln>
            <a:noFill/>
          </a:ln>
        </p:spPr>
        <p:txBody>
          <a:bodyPr spcFirstLastPara="1" wrap="square" lIns="91425" tIns="45700" rIns="91425" bIns="45700" anchor="t" anchorCtr="0">
            <a:normAutofit lnSpcReduction="10000"/>
          </a:bodyPr>
          <a:lstStyle/>
          <a:p>
            <a:pPr marL="228600" lvl="0" indent="-228600"/>
            <a:r>
              <a:rPr lang="en-IN" b="1" dirty="0"/>
              <a:t>Data Analysis Techniques: </a:t>
            </a:r>
            <a:r>
              <a:rPr lang="en-US" dirty="0"/>
              <a:t>The analysis involves a temporal history buffer to calculate the temperature rate of change. Finally, these components are fused using a weighted linear combination to derive the aggregate risk score, which is then mapped to discrete safety states (Safe, Warning, Danger) using predefined thresholds.</a:t>
            </a:r>
          </a:p>
          <a:p>
            <a:pPr marL="228600" lvl="0" indent="-228600"/>
            <a:r>
              <a:rPr lang="en-IN" b="1" dirty="0"/>
              <a:t>Tools and Resources Used: </a:t>
            </a:r>
            <a:r>
              <a:rPr lang="en-US" dirty="0"/>
              <a:t>The hardware implementation centers on a low-power microcontroller,</a:t>
            </a:r>
            <a:r>
              <a:rPr lang="en-US" b="1" dirty="0"/>
              <a:t> </a:t>
            </a:r>
            <a:r>
              <a:rPr lang="en-US" dirty="0"/>
              <a:t>(Arduino UNO in this case), selected for its reliability in real-time execution and support for analog/digital I/O. Development is supported by the </a:t>
            </a:r>
            <a:r>
              <a:rPr lang="en-US" dirty="0" err="1"/>
              <a:t>Wokwi</a:t>
            </a:r>
            <a:r>
              <a:rPr lang="en-US" dirty="0"/>
              <a:t> simulation platform for virtual validation and the Serial Telemetry Interface for real-time data logging and diagnostic monitoring.</a:t>
            </a:r>
            <a:endParaRPr dirty="0"/>
          </a:p>
        </p:txBody>
      </p:sp>
      <p:sp>
        <p:nvSpPr>
          <p:cNvPr id="184" name="Google Shape;184;p9">
            <a:extLst>
              <a:ext uri="{FF2B5EF4-FFF2-40B4-BE49-F238E27FC236}">
                <a16:creationId xmlns:a16="http://schemas.microsoft.com/office/drawing/2014/main" id="{F0584466-6DCD-1FFF-2D37-69D18E0AC269}"/>
              </a:ext>
            </a:extLst>
          </p:cNvPr>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12</a:t>
            </a:fld>
            <a:endParaRPr/>
          </a:p>
        </p:txBody>
      </p:sp>
      <p:sp>
        <p:nvSpPr>
          <p:cNvPr id="185" name="Google Shape;185;p9">
            <a:extLst>
              <a:ext uri="{FF2B5EF4-FFF2-40B4-BE49-F238E27FC236}">
                <a16:creationId xmlns:a16="http://schemas.microsoft.com/office/drawing/2014/main" id="{A56CEC60-10F4-5251-3ED9-BFD8681D0312}"/>
              </a:ext>
            </a:extLst>
          </p:cNvPr>
          <p:cNvSpPr txBox="1"/>
          <p:nvPr/>
        </p:nvSpPr>
        <p:spPr>
          <a:xfrm>
            <a:off x="2284362" y="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Methodology</a:t>
            </a:r>
            <a:endParaRPr/>
          </a:p>
        </p:txBody>
      </p:sp>
    </p:spTree>
    <p:extLst>
      <p:ext uri="{BB962C8B-B14F-4D97-AF65-F5344CB8AC3E}">
        <p14:creationId xmlns:p14="http://schemas.microsoft.com/office/powerpoint/2010/main" val="10033088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2" name="Google Shape;192;p10"/>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13</a:t>
            </a:fld>
            <a:endParaRPr/>
          </a:p>
        </p:txBody>
      </p:sp>
      <p:sp>
        <p:nvSpPr>
          <p:cNvPr id="193" name="Google Shape;193;p10"/>
          <p:cNvSpPr txBox="1"/>
          <p:nvPr/>
        </p:nvSpPr>
        <p:spPr>
          <a:xfrm>
            <a:off x="2284362" y="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Methodology</a:t>
            </a:r>
            <a:endParaRPr/>
          </a:p>
        </p:txBody>
      </p:sp>
      <p:pic>
        <p:nvPicPr>
          <p:cNvPr id="5" name="Picture 4">
            <a:extLst>
              <a:ext uri="{FF2B5EF4-FFF2-40B4-BE49-F238E27FC236}">
                <a16:creationId xmlns:a16="http://schemas.microsoft.com/office/drawing/2014/main" id="{D2A298F9-9139-C0CC-D397-1BC0D0F0D93D}"/>
              </a:ext>
            </a:extLst>
          </p:cNvPr>
          <p:cNvPicPr>
            <a:picLocks noChangeAspect="1"/>
          </p:cNvPicPr>
          <p:nvPr/>
        </p:nvPicPr>
        <p:blipFill>
          <a:blip r:embed="rId3"/>
          <a:stretch>
            <a:fillRect/>
          </a:stretch>
        </p:blipFill>
        <p:spPr>
          <a:xfrm>
            <a:off x="1238416" y="943712"/>
            <a:ext cx="9715168" cy="529918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7">
          <a:extLst>
            <a:ext uri="{FF2B5EF4-FFF2-40B4-BE49-F238E27FC236}">
              <a16:creationId xmlns:a16="http://schemas.microsoft.com/office/drawing/2014/main" id="{FA4C42D1-C953-9B7B-068F-DA917E22F353}"/>
            </a:ext>
          </a:extLst>
        </p:cNvPr>
        <p:cNvGrpSpPr/>
        <p:nvPr/>
      </p:nvGrpSpPr>
      <p:grpSpPr>
        <a:xfrm>
          <a:off x="0" y="0"/>
          <a:ext cx="0" cy="0"/>
          <a:chOff x="0" y="0"/>
          <a:chExt cx="0" cy="0"/>
        </a:xfrm>
      </p:grpSpPr>
      <p:sp>
        <p:nvSpPr>
          <p:cNvPr id="160" name="Google Shape;160;p6">
            <a:extLst>
              <a:ext uri="{FF2B5EF4-FFF2-40B4-BE49-F238E27FC236}">
                <a16:creationId xmlns:a16="http://schemas.microsoft.com/office/drawing/2014/main" id="{6166A603-D188-54B2-0D3D-60B6FEBB8D72}"/>
              </a:ext>
            </a:extLst>
          </p:cNvPr>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14</a:t>
            </a:fld>
            <a:endParaRPr/>
          </a:p>
        </p:txBody>
      </p:sp>
      <p:sp>
        <p:nvSpPr>
          <p:cNvPr id="161" name="Google Shape;161;p6">
            <a:extLst>
              <a:ext uri="{FF2B5EF4-FFF2-40B4-BE49-F238E27FC236}">
                <a16:creationId xmlns:a16="http://schemas.microsoft.com/office/drawing/2014/main" id="{A500C07A-6400-D1A0-46B8-CCD77ED55B31}"/>
              </a:ext>
            </a:extLst>
          </p:cNvPr>
          <p:cNvSpPr txBox="1"/>
          <p:nvPr/>
        </p:nvSpPr>
        <p:spPr>
          <a:xfrm>
            <a:off x="1950900" y="330379"/>
            <a:ext cx="9939866" cy="943186"/>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algn="ctr"/>
            <a:r>
              <a:rPr lang="en-US" sz="3000" b="1" spc="300" dirty="0">
                <a:solidFill>
                  <a:srgbClr val="C00000"/>
                </a:solidFill>
                <a:latin typeface="Bookman Old Style" panose="02050604050505020204" pitchFamily="18" charset="0"/>
                <a:ea typeface="Calibri" pitchFamily="34" charset="-122"/>
                <a:cs typeface="Calibri" pitchFamily="34" charset="-120"/>
              </a:rPr>
              <a:t>Phase I Comments &amp; Actions Taken</a:t>
            </a:r>
            <a:endParaRPr lang="en-US" sz="3000" dirty="0">
              <a:solidFill>
                <a:srgbClr val="C00000"/>
              </a:solidFill>
              <a:latin typeface="Bookman Old Style" panose="02050604050505020204" pitchFamily="18" charset="0"/>
            </a:endParaRPr>
          </a:p>
          <a:p>
            <a:pPr marL="0" marR="0" lvl="0" indent="0" algn="ctr" rtl="0">
              <a:spcBef>
                <a:spcPts val="0"/>
              </a:spcBef>
              <a:spcAft>
                <a:spcPts val="0"/>
              </a:spcAft>
              <a:buNone/>
            </a:pPr>
            <a:endParaRPr sz="3000" dirty="0">
              <a:solidFill>
                <a:srgbClr val="C00000"/>
              </a:solidFill>
              <a:latin typeface="Bookman Old Style" panose="02050604050505020204" pitchFamily="18" charset="0"/>
            </a:endParaRPr>
          </a:p>
        </p:txBody>
      </p:sp>
      <p:pic>
        <p:nvPicPr>
          <p:cNvPr id="3" name="Picture 2">
            <a:extLst>
              <a:ext uri="{FF2B5EF4-FFF2-40B4-BE49-F238E27FC236}">
                <a16:creationId xmlns:a16="http://schemas.microsoft.com/office/drawing/2014/main" id="{E5CB1BBB-C3AB-2BD7-966B-DEA69D37B027}"/>
              </a:ext>
            </a:extLst>
          </p:cNvPr>
          <p:cNvPicPr>
            <a:picLocks noChangeAspect="1"/>
          </p:cNvPicPr>
          <p:nvPr/>
        </p:nvPicPr>
        <p:blipFill>
          <a:blip r:embed="rId3"/>
          <a:stretch>
            <a:fillRect/>
          </a:stretch>
        </p:blipFill>
        <p:spPr>
          <a:xfrm>
            <a:off x="604184" y="1110531"/>
            <a:ext cx="10983631" cy="5601799"/>
          </a:xfrm>
          <a:prstGeom prst="rect">
            <a:avLst/>
          </a:prstGeom>
        </p:spPr>
      </p:pic>
    </p:spTree>
    <p:extLst>
      <p:ext uri="{BB962C8B-B14F-4D97-AF65-F5344CB8AC3E}">
        <p14:creationId xmlns:p14="http://schemas.microsoft.com/office/powerpoint/2010/main" val="32415118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7">
          <a:extLst>
            <a:ext uri="{FF2B5EF4-FFF2-40B4-BE49-F238E27FC236}">
              <a16:creationId xmlns:a16="http://schemas.microsoft.com/office/drawing/2014/main" id="{8FF75A5E-C994-8481-90B1-1ECB3B8300EE}"/>
            </a:ext>
          </a:extLst>
        </p:cNvPr>
        <p:cNvGrpSpPr/>
        <p:nvPr/>
      </p:nvGrpSpPr>
      <p:grpSpPr>
        <a:xfrm>
          <a:off x="0" y="0"/>
          <a:ext cx="0" cy="0"/>
          <a:chOff x="0" y="0"/>
          <a:chExt cx="0" cy="0"/>
        </a:xfrm>
      </p:grpSpPr>
      <p:sp>
        <p:nvSpPr>
          <p:cNvPr id="160" name="Google Shape;160;p6">
            <a:extLst>
              <a:ext uri="{FF2B5EF4-FFF2-40B4-BE49-F238E27FC236}">
                <a16:creationId xmlns:a16="http://schemas.microsoft.com/office/drawing/2014/main" id="{8FE5E5D1-1E52-B9B0-D5A1-5DCA41502376}"/>
              </a:ext>
            </a:extLst>
          </p:cNvPr>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15</a:t>
            </a:fld>
            <a:endParaRPr/>
          </a:p>
        </p:txBody>
      </p:sp>
      <p:sp>
        <p:nvSpPr>
          <p:cNvPr id="161" name="Google Shape;161;p6">
            <a:extLst>
              <a:ext uri="{FF2B5EF4-FFF2-40B4-BE49-F238E27FC236}">
                <a16:creationId xmlns:a16="http://schemas.microsoft.com/office/drawing/2014/main" id="{2321C61D-27C8-2FA7-ECB9-394AFC9D5BB2}"/>
              </a:ext>
            </a:extLst>
          </p:cNvPr>
          <p:cNvSpPr txBox="1"/>
          <p:nvPr/>
        </p:nvSpPr>
        <p:spPr>
          <a:xfrm>
            <a:off x="1490103" y="145670"/>
            <a:ext cx="9939866" cy="943186"/>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algn="ctr"/>
            <a:r>
              <a:rPr lang="en-US" sz="3000" b="1" spc="300" dirty="0">
                <a:solidFill>
                  <a:srgbClr val="C00000"/>
                </a:solidFill>
                <a:latin typeface="Bookman Old Style" panose="02050604050505020204" pitchFamily="18" charset="0"/>
                <a:ea typeface="Calibri" pitchFamily="34" charset="-122"/>
                <a:cs typeface="Calibri" pitchFamily="34" charset="-120"/>
              </a:rPr>
              <a:t>Results</a:t>
            </a:r>
            <a:endParaRPr sz="3000" dirty="0">
              <a:solidFill>
                <a:srgbClr val="C00000"/>
              </a:solidFill>
              <a:latin typeface="Bookman Old Style" panose="02050604050505020204" pitchFamily="18" charset="0"/>
            </a:endParaRPr>
          </a:p>
        </p:txBody>
      </p:sp>
      <p:pic>
        <p:nvPicPr>
          <p:cNvPr id="4" name="Picture 3">
            <a:extLst>
              <a:ext uri="{FF2B5EF4-FFF2-40B4-BE49-F238E27FC236}">
                <a16:creationId xmlns:a16="http://schemas.microsoft.com/office/drawing/2014/main" id="{167EA4E8-C93E-7C24-2BE8-BB086BEB4227}"/>
              </a:ext>
            </a:extLst>
          </p:cNvPr>
          <p:cNvPicPr>
            <a:picLocks noChangeAspect="1"/>
          </p:cNvPicPr>
          <p:nvPr/>
        </p:nvPicPr>
        <p:blipFill>
          <a:blip r:embed="rId3"/>
          <a:stretch>
            <a:fillRect/>
          </a:stretch>
        </p:blipFill>
        <p:spPr>
          <a:xfrm>
            <a:off x="575734" y="1075774"/>
            <a:ext cx="5401733" cy="2510315"/>
          </a:xfrm>
          <a:prstGeom prst="rect">
            <a:avLst/>
          </a:prstGeom>
        </p:spPr>
      </p:pic>
      <p:pic>
        <p:nvPicPr>
          <p:cNvPr id="6" name="Picture 5">
            <a:extLst>
              <a:ext uri="{FF2B5EF4-FFF2-40B4-BE49-F238E27FC236}">
                <a16:creationId xmlns:a16="http://schemas.microsoft.com/office/drawing/2014/main" id="{0B991294-99DD-BCE9-0C41-230009036CF9}"/>
              </a:ext>
            </a:extLst>
          </p:cNvPr>
          <p:cNvPicPr>
            <a:picLocks noChangeAspect="1"/>
          </p:cNvPicPr>
          <p:nvPr/>
        </p:nvPicPr>
        <p:blipFill>
          <a:blip r:embed="rId4"/>
          <a:stretch>
            <a:fillRect/>
          </a:stretch>
        </p:blipFill>
        <p:spPr>
          <a:xfrm>
            <a:off x="6358467" y="1088856"/>
            <a:ext cx="4871321" cy="2484150"/>
          </a:xfrm>
          <a:prstGeom prst="rect">
            <a:avLst/>
          </a:prstGeom>
        </p:spPr>
      </p:pic>
      <p:pic>
        <p:nvPicPr>
          <p:cNvPr id="8" name="Picture 7">
            <a:extLst>
              <a:ext uri="{FF2B5EF4-FFF2-40B4-BE49-F238E27FC236}">
                <a16:creationId xmlns:a16="http://schemas.microsoft.com/office/drawing/2014/main" id="{0EB529FE-DFA6-F654-A7FB-CCA155AF739D}"/>
              </a:ext>
            </a:extLst>
          </p:cNvPr>
          <p:cNvPicPr>
            <a:picLocks noChangeAspect="1"/>
          </p:cNvPicPr>
          <p:nvPr/>
        </p:nvPicPr>
        <p:blipFill>
          <a:blip r:embed="rId5"/>
          <a:stretch>
            <a:fillRect/>
          </a:stretch>
        </p:blipFill>
        <p:spPr>
          <a:xfrm>
            <a:off x="484776" y="3748350"/>
            <a:ext cx="5492691" cy="2369548"/>
          </a:xfrm>
          <a:prstGeom prst="rect">
            <a:avLst/>
          </a:prstGeom>
        </p:spPr>
      </p:pic>
      <p:pic>
        <p:nvPicPr>
          <p:cNvPr id="10" name="Picture 9">
            <a:extLst>
              <a:ext uri="{FF2B5EF4-FFF2-40B4-BE49-F238E27FC236}">
                <a16:creationId xmlns:a16="http://schemas.microsoft.com/office/drawing/2014/main" id="{680F6912-35E6-7900-16F3-1B9184C6C419}"/>
              </a:ext>
            </a:extLst>
          </p:cNvPr>
          <p:cNvPicPr>
            <a:picLocks noChangeAspect="1"/>
          </p:cNvPicPr>
          <p:nvPr/>
        </p:nvPicPr>
        <p:blipFill>
          <a:blip r:embed="rId6"/>
          <a:stretch>
            <a:fillRect/>
          </a:stretch>
        </p:blipFill>
        <p:spPr>
          <a:xfrm>
            <a:off x="6358468" y="3748350"/>
            <a:ext cx="5071502" cy="2417725"/>
          </a:xfrm>
          <a:prstGeom prst="rect">
            <a:avLst/>
          </a:prstGeom>
        </p:spPr>
      </p:pic>
    </p:spTree>
    <p:extLst>
      <p:ext uri="{BB962C8B-B14F-4D97-AF65-F5344CB8AC3E}">
        <p14:creationId xmlns:p14="http://schemas.microsoft.com/office/powerpoint/2010/main" val="20032075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11"/>
          <p:cNvSpPr txBox="1">
            <a:spLocks noGrp="1"/>
          </p:cNvSpPr>
          <p:nvPr>
            <p:ph type="body" idx="1"/>
          </p:nvPr>
        </p:nvSpPr>
        <p:spPr>
          <a:xfrm>
            <a:off x="247650" y="1117600"/>
            <a:ext cx="11769538" cy="5229605"/>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spcBef>
                <a:spcPts val="0"/>
              </a:spcBef>
            </a:pPr>
            <a:r>
              <a:rPr lang="en-IN" b="1" dirty="0"/>
              <a:t>Expected Results: </a:t>
            </a:r>
            <a:r>
              <a:rPr lang="en-US" dirty="0"/>
              <a:t>The primary outcome of this project is a fully functional, real-time risk estimation prototype that successfully transitions from simple threshold monitoring to intelligent environmental inference. We anticipate a system capable of generating a stable, continuous risk score that accurately reflects the severity of the environment through weighted multi-sensor fusion . Specifically, the project will deliver a Predictive Alert Mechanism that identifies hazardous thermal trends before they reach critical levels.</a:t>
            </a:r>
          </a:p>
          <a:p>
            <a:pPr marL="228600" lvl="0" indent="-228600">
              <a:spcBef>
                <a:spcPts val="0"/>
              </a:spcBef>
            </a:pPr>
            <a:r>
              <a:rPr lang="en-IN" b="1" dirty="0"/>
              <a:t>Potential Impact on the Field: </a:t>
            </a:r>
            <a:r>
              <a:rPr lang="en-US" dirty="0"/>
              <a:t>This framework has the potential to significantly improve situational awareness in industrial and residential settings by drastically reducing the rate of false alarms caused by isolated sensor spikes. By integrating human motion as a contextual indicator, the system ensures that safety protocols are prioritized when lives are at risk, thereby increasing human trust in automated safety infrastructures.</a:t>
            </a:r>
            <a:endParaRPr dirty="0"/>
          </a:p>
        </p:txBody>
      </p:sp>
      <p:sp>
        <p:nvSpPr>
          <p:cNvPr id="200" name="Google Shape;200;p11"/>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16</a:t>
            </a:fld>
            <a:endParaRPr/>
          </a:p>
        </p:txBody>
      </p:sp>
      <p:sp>
        <p:nvSpPr>
          <p:cNvPr id="201" name="Google Shape;201;p11"/>
          <p:cNvSpPr txBox="1"/>
          <p:nvPr/>
        </p:nvSpPr>
        <p:spPr>
          <a:xfrm>
            <a:off x="2284362" y="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Proposed Outcomes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7">
          <a:extLst>
            <a:ext uri="{FF2B5EF4-FFF2-40B4-BE49-F238E27FC236}">
              <a16:creationId xmlns:a16="http://schemas.microsoft.com/office/drawing/2014/main" id="{E5317E4C-8A1F-6403-3B23-CDC268E59A7C}"/>
            </a:ext>
          </a:extLst>
        </p:cNvPr>
        <p:cNvGrpSpPr/>
        <p:nvPr/>
      </p:nvGrpSpPr>
      <p:grpSpPr>
        <a:xfrm>
          <a:off x="0" y="0"/>
          <a:ext cx="0" cy="0"/>
          <a:chOff x="0" y="0"/>
          <a:chExt cx="0" cy="0"/>
        </a:xfrm>
      </p:grpSpPr>
      <p:sp>
        <p:nvSpPr>
          <p:cNvPr id="198" name="Google Shape;198;p11">
            <a:extLst>
              <a:ext uri="{FF2B5EF4-FFF2-40B4-BE49-F238E27FC236}">
                <a16:creationId xmlns:a16="http://schemas.microsoft.com/office/drawing/2014/main" id="{FD61DB61-1BFE-C16B-6993-B1C23E952118}"/>
              </a:ext>
            </a:extLst>
          </p:cNvPr>
          <p:cNvSpPr txBox="1">
            <a:spLocks noGrp="1"/>
          </p:cNvSpPr>
          <p:nvPr>
            <p:ph type="body" idx="1"/>
          </p:nvPr>
        </p:nvSpPr>
        <p:spPr>
          <a:xfrm>
            <a:off x="247650" y="1117600"/>
            <a:ext cx="11769538" cy="5229605"/>
          </a:xfrm>
          <a:prstGeom prst="rect">
            <a:avLst/>
          </a:prstGeom>
          <a:noFill/>
          <a:ln>
            <a:noFill/>
          </a:ln>
        </p:spPr>
        <p:txBody>
          <a:bodyPr spcFirstLastPara="1" wrap="square" lIns="91425" tIns="45700" rIns="91425" bIns="45700" anchor="t" anchorCtr="0">
            <a:normAutofit/>
          </a:bodyPr>
          <a:lstStyle/>
          <a:p>
            <a:pPr marL="228600" lvl="0" indent="-228600"/>
            <a:r>
              <a:rPr lang="en-IN" b="1" dirty="0"/>
              <a:t>Future Research Directions:</a:t>
            </a:r>
            <a:r>
              <a:rPr lang="en-IN" dirty="0"/>
              <a:t> </a:t>
            </a:r>
            <a:r>
              <a:rPr lang="en-US" dirty="0"/>
              <a:t>Looking ahead, this project opens doors for several advanced extensions, including the integration of Wireless Edge-to-Cloud Telemetry. Future iterations could also incorporate Fuzzy Logic Inference to handle more complex, non-linear environmental "gray areas" or expand the sensing modality to include acoustic and vibration sensors for mechanical failure prediction. Ultimately, the framework is designed to be extensible, allowing for the addition of Active Mitigation Actuators, such as automatic ventilation or emergency power-cut systems, to create a fully autonomous closed-loop safety environment.</a:t>
            </a:r>
            <a:endParaRPr dirty="0"/>
          </a:p>
        </p:txBody>
      </p:sp>
      <p:sp>
        <p:nvSpPr>
          <p:cNvPr id="200" name="Google Shape;200;p11">
            <a:extLst>
              <a:ext uri="{FF2B5EF4-FFF2-40B4-BE49-F238E27FC236}">
                <a16:creationId xmlns:a16="http://schemas.microsoft.com/office/drawing/2014/main" id="{CD89A0FA-5554-E948-6BDB-6293F537C776}"/>
              </a:ext>
            </a:extLst>
          </p:cNvPr>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17</a:t>
            </a:fld>
            <a:endParaRPr/>
          </a:p>
        </p:txBody>
      </p:sp>
      <p:sp>
        <p:nvSpPr>
          <p:cNvPr id="201" name="Google Shape;201;p11">
            <a:extLst>
              <a:ext uri="{FF2B5EF4-FFF2-40B4-BE49-F238E27FC236}">
                <a16:creationId xmlns:a16="http://schemas.microsoft.com/office/drawing/2014/main" id="{53EC538D-6527-FBB3-0DD6-9E5CD902DB9C}"/>
              </a:ext>
            </a:extLst>
          </p:cNvPr>
          <p:cNvSpPr txBox="1"/>
          <p:nvPr/>
        </p:nvSpPr>
        <p:spPr>
          <a:xfrm>
            <a:off x="2284362" y="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Proposed Outcomes</a:t>
            </a:r>
            <a:endParaRPr/>
          </a:p>
        </p:txBody>
      </p:sp>
    </p:spTree>
    <p:extLst>
      <p:ext uri="{BB962C8B-B14F-4D97-AF65-F5344CB8AC3E}">
        <p14:creationId xmlns:p14="http://schemas.microsoft.com/office/powerpoint/2010/main" val="12716400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12"/>
          <p:cNvSpPr txBox="1">
            <a:spLocks noGrp="1"/>
          </p:cNvSpPr>
          <p:nvPr>
            <p:ph type="body" idx="1"/>
          </p:nvPr>
        </p:nvSpPr>
        <p:spPr>
          <a:xfrm>
            <a:off x="247650" y="1117600"/>
            <a:ext cx="11769538" cy="5229605"/>
          </a:xfrm>
          <a:prstGeom prst="rect">
            <a:avLst/>
          </a:prstGeom>
          <a:noFill/>
          <a:ln>
            <a:noFill/>
          </a:ln>
        </p:spPr>
        <p:txBody>
          <a:bodyPr spcFirstLastPara="1" wrap="square" lIns="91425" tIns="45700" rIns="91425" bIns="45700" anchor="t" anchorCtr="0">
            <a:normAutofit fontScale="85000" lnSpcReduction="20000"/>
          </a:bodyPr>
          <a:lstStyle/>
          <a:p>
            <a:pPr marL="228600" lvl="0" indent="-228600" algn="l" rtl="0">
              <a:lnSpc>
                <a:spcPct val="90000"/>
              </a:lnSpc>
              <a:spcBef>
                <a:spcPts val="0"/>
              </a:spcBef>
              <a:spcAft>
                <a:spcPts val="0"/>
              </a:spcAft>
              <a:buClr>
                <a:srgbClr val="002060"/>
              </a:buClr>
              <a:buSzPct val="100000"/>
              <a:buChar char="•"/>
            </a:pPr>
            <a:r>
              <a:rPr lang="en-IN" b="1" dirty="0"/>
              <a:t>Project Timeline Overview</a:t>
            </a:r>
            <a:endParaRPr dirty="0"/>
          </a:p>
          <a:p>
            <a:pPr marL="228600" lvl="0" indent="-228600" algn="l" rtl="0">
              <a:lnSpc>
                <a:spcPct val="90000"/>
              </a:lnSpc>
              <a:spcBef>
                <a:spcPts val="1000"/>
              </a:spcBef>
              <a:spcAft>
                <a:spcPts val="0"/>
              </a:spcAft>
              <a:buClr>
                <a:srgbClr val="002060"/>
              </a:buClr>
              <a:buSzPct val="100000"/>
              <a:buChar char="•"/>
            </a:pPr>
            <a:r>
              <a:rPr lang="en-IN" b="1" dirty="0"/>
              <a:t>Initiation Phase (Weeks 1-2)</a:t>
            </a:r>
            <a:endParaRPr dirty="0"/>
          </a:p>
          <a:p>
            <a:pPr marL="685800" lvl="1" indent="-228600">
              <a:buSzPct val="100000"/>
            </a:pPr>
            <a:r>
              <a:rPr lang="en-US" dirty="0"/>
              <a:t>Define core project goals and safety objectives.</a:t>
            </a:r>
            <a:endParaRPr dirty="0"/>
          </a:p>
          <a:p>
            <a:pPr marL="685800" lvl="1" indent="-228600">
              <a:buSzPct val="100000"/>
            </a:pPr>
            <a:r>
              <a:rPr lang="en-US" dirty="0"/>
              <a:t>Identify necessary group members and hardware resources.</a:t>
            </a:r>
          </a:p>
          <a:p>
            <a:pPr marL="685800" lvl="1" indent="-228600">
              <a:buSzPct val="100000"/>
            </a:pPr>
            <a:r>
              <a:rPr lang="en-IN" dirty="0"/>
              <a:t>Conduct feasibility studies.</a:t>
            </a:r>
            <a:endParaRPr dirty="0"/>
          </a:p>
          <a:p>
            <a:pPr marL="228600" lvl="0" indent="-228600" algn="l" rtl="0">
              <a:lnSpc>
                <a:spcPct val="90000"/>
              </a:lnSpc>
              <a:spcBef>
                <a:spcPts val="1000"/>
              </a:spcBef>
              <a:spcAft>
                <a:spcPts val="0"/>
              </a:spcAft>
              <a:buClr>
                <a:srgbClr val="002060"/>
              </a:buClr>
              <a:buSzPct val="100000"/>
              <a:buChar char="•"/>
            </a:pPr>
            <a:r>
              <a:rPr lang="en-IN" b="1" dirty="0"/>
              <a:t>Planning Phase (Weeks 3-4)</a:t>
            </a:r>
            <a:endParaRPr dirty="0"/>
          </a:p>
          <a:p>
            <a:pPr marL="685800" lvl="1" indent="-228600" algn="l" rtl="0">
              <a:lnSpc>
                <a:spcPct val="90000"/>
              </a:lnSpc>
              <a:spcBef>
                <a:spcPts val="500"/>
              </a:spcBef>
              <a:spcAft>
                <a:spcPts val="0"/>
              </a:spcAft>
              <a:buClr>
                <a:schemeClr val="dk1"/>
              </a:buClr>
              <a:buSzPct val="100000"/>
              <a:buChar char="•"/>
            </a:pPr>
            <a:r>
              <a:rPr lang="en-IN" dirty="0"/>
              <a:t>Develop a detailed project plan</a:t>
            </a:r>
            <a:endParaRPr dirty="0"/>
          </a:p>
          <a:p>
            <a:pPr marL="685800" lvl="1" indent="-228600" algn="l" rtl="0">
              <a:lnSpc>
                <a:spcPct val="90000"/>
              </a:lnSpc>
              <a:spcBef>
                <a:spcPts val="500"/>
              </a:spcBef>
              <a:spcAft>
                <a:spcPts val="0"/>
              </a:spcAft>
              <a:buClr>
                <a:schemeClr val="dk1"/>
              </a:buClr>
              <a:buSzPct val="100000"/>
              <a:buChar char="•"/>
            </a:pPr>
            <a:r>
              <a:rPr lang="en-IN" dirty="0"/>
              <a:t>Allocate resources and assign responsibilities.</a:t>
            </a:r>
            <a:endParaRPr dirty="0"/>
          </a:p>
          <a:p>
            <a:pPr marL="685800" lvl="1" indent="-228600" algn="l" rtl="0">
              <a:lnSpc>
                <a:spcPct val="90000"/>
              </a:lnSpc>
              <a:spcBef>
                <a:spcPts val="500"/>
              </a:spcBef>
              <a:spcAft>
                <a:spcPts val="0"/>
              </a:spcAft>
              <a:buClr>
                <a:schemeClr val="dk1"/>
              </a:buClr>
              <a:buSzPct val="100000"/>
              <a:buChar char="•"/>
            </a:pPr>
            <a:r>
              <a:rPr lang="en-IN" dirty="0"/>
              <a:t>Create a budget plan.</a:t>
            </a:r>
            <a:endParaRPr dirty="0"/>
          </a:p>
          <a:p>
            <a:pPr marL="228600" lvl="0" indent="-228600" algn="l" rtl="0">
              <a:lnSpc>
                <a:spcPct val="90000"/>
              </a:lnSpc>
              <a:spcBef>
                <a:spcPts val="1000"/>
              </a:spcBef>
              <a:spcAft>
                <a:spcPts val="0"/>
              </a:spcAft>
              <a:buClr>
                <a:srgbClr val="002060"/>
              </a:buClr>
              <a:buSzPct val="100000"/>
              <a:buChar char="•"/>
            </a:pPr>
            <a:r>
              <a:rPr lang="en-IN" b="1" dirty="0"/>
              <a:t>Execution Phase (Weeks 5-10)</a:t>
            </a:r>
            <a:endParaRPr dirty="0"/>
          </a:p>
          <a:p>
            <a:pPr marL="685800" lvl="1" indent="-228600" algn="l" rtl="0">
              <a:lnSpc>
                <a:spcPct val="90000"/>
              </a:lnSpc>
              <a:spcBef>
                <a:spcPts val="500"/>
              </a:spcBef>
              <a:spcAft>
                <a:spcPts val="0"/>
              </a:spcAft>
              <a:buClr>
                <a:schemeClr val="dk1"/>
              </a:buClr>
              <a:buSzPct val="100000"/>
              <a:buChar char="•"/>
            </a:pPr>
            <a:r>
              <a:rPr lang="en-IN" dirty="0"/>
              <a:t>Begin project work according to the project plan.</a:t>
            </a:r>
            <a:endParaRPr dirty="0"/>
          </a:p>
          <a:p>
            <a:pPr marL="685800" lvl="1" indent="-228600" algn="l" rtl="0">
              <a:lnSpc>
                <a:spcPct val="90000"/>
              </a:lnSpc>
              <a:spcBef>
                <a:spcPts val="500"/>
              </a:spcBef>
              <a:spcAft>
                <a:spcPts val="0"/>
              </a:spcAft>
              <a:buClr>
                <a:schemeClr val="dk1"/>
              </a:buClr>
              <a:buSzPct val="100000"/>
              <a:buChar char="•"/>
            </a:pPr>
            <a:r>
              <a:rPr lang="en-IN" dirty="0"/>
              <a:t>Hold regular team meetings to monitor progress.</a:t>
            </a:r>
            <a:endParaRPr dirty="0"/>
          </a:p>
          <a:p>
            <a:pPr marL="685800" lvl="1" indent="-228600" algn="l" rtl="0">
              <a:lnSpc>
                <a:spcPct val="90000"/>
              </a:lnSpc>
              <a:spcBef>
                <a:spcPts val="500"/>
              </a:spcBef>
              <a:spcAft>
                <a:spcPts val="0"/>
              </a:spcAft>
              <a:buClr>
                <a:schemeClr val="dk1"/>
              </a:buClr>
              <a:buSzPct val="100000"/>
              <a:buChar char="•"/>
            </a:pPr>
            <a:r>
              <a:rPr lang="en-IN" dirty="0"/>
              <a:t>Implement communication strategies with group members.</a:t>
            </a:r>
            <a:endParaRPr dirty="0"/>
          </a:p>
          <a:p>
            <a:pPr marL="228600" lvl="0" indent="-228600" algn="l" rtl="0">
              <a:lnSpc>
                <a:spcPct val="90000"/>
              </a:lnSpc>
              <a:spcBef>
                <a:spcPts val="1000"/>
              </a:spcBef>
              <a:spcAft>
                <a:spcPts val="0"/>
              </a:spcAft>
              <a:buClr>
                <a:srgbClr val="002060"/>
              </a:buClr>
              <a:buSzPct val="100000"/>
              <a:buChar char="•"/>
            </a:pPr>
            <a:r>
              <a:rPr lang="en-IN" b="1" dirty="0"/>
              <a:t>Closure Phase (Weeks 11-13)</a:t>
            </a:r>
            <a:endParaRPr dirty="0"/>
          </a:p>
          <a:p>
            <a:pPr marL="685800" lvl="1" indent="-228600" algn="l" rtl="0">
              <a:lnSpc>
                <a:spcPct val="90000"/>
              </a:lnSpc>
              <a:spcBef>
                <a:spcPts val="500"/>
              </a:spcBef>
              <a:spcAft>
                <a:spcPts val="0"/>
              </a:spcAft>
              <a:buClr>
                <a:schemeClr val="dk1"/>
              </a:buClr>
              <a:buSzPct val="100000"/>
              <a:buChar char="•"/>
            </a:pPr>
            <a:r>
              <a:rPr lang="en-IN" dirty="0"/>
              <a:t>Complete final deliverables and obtain panel approval.</a:t>
            </a:r>
            <a:endParaRPr dirty="0"/>
          </a:p>
          <a:p>
            <a:pPr marL="685800" lvl="1" indent="-228600" algn="l" rtl="0">
              <a:lnSpc>
                <a:spcPct val="90000"/>
              </a:lnSpc>
              <a:spcBef>
                <a:spcPts val="500"/>
              </a:spcBef>
              <a:spcAft>
                <a:spcPts val="0"/>
              </a:spcAft>
              <a:buClr>
                <a:schemeClr val="dk1"/>
              </a:buClr>
              <a:buSzPct val="100000"/>
              <a:buChar char="•"/>
            </a:pPr>
            <a:r>
              <a:rPr lang="en-IN" dirty="0"/>
              <a:t>Present in project review and document lessons learned.</a:t>
            </a:r>
            <a:endParaRPr dirty="0"/>
          </a:p>
          <a:p>
            <a:pPr marL="685800" lvl="1" indent="-228600" algn="l" rtl="0">
              <a:lnSpc>
                <a:spcPct val="90000"/>
              </a:lnSpc>
              <a:spcBef>
                <a:spcPts val="500"/>
              </a:spcBef>
              <a:spcAft>
                <a:spcPts val="0"/>
              </a:spcAft>
              <a:buClr>
                <a:schemeClr val="dk1"/>
              </a:buClr>
              <a:buSzPct val="100000"/>
              <a:buChar char="•"/>
            </a:pPr>
            <a:r>
              <a:rPr lang="en-IN" dirty="0"/>
              <a:t>Formally close the project.</a:t>
            </a:r>
            <a:endParaRPr dirty="0"/>
          </a:p>
          <a:p>
            <a:pPr marL="228600" lvl="0" indent="-77470" algn="l" rtl="0">
              <a:lnSpc>
                <a:spcPct val="90000"/>
              </a:lnSpc>
              <a:spcBef>
                <a:spcPts val="1000"/>
              </a:spcBef>
              <a:spcAft>
                <a:spcPts val="0"/>
              </a:spcAft>
              <a:buClr>
                <a:srgbClr val="002060"/>
              </a:buClr>
              <a:buSzPct val="100000"/>
              <a:buNone/>
            </a:pPr>
            <a:endParaRPr dirty="0"/>
          </a:p>
        </p:txBody>
      </p:sp>
      <p:sp>
        <p:nvSpPr>
          <p:cNvPr id="208" name="Google Shape;208;p12"/>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18</a:t>
            </a:fld>
            <a:endParaRPr/>
          </a:p>
        </p:txBody>
      </p:sp>
      <p:sp>
        <p:nvSpPr>
          <p:cNvPr id="209" name="Google Shape;209;p12"/>
          <p:cNvSpPr txBox="1"/>
          <p:nvPr/>
        </p:nvSpPr>
        <p:spPr>
          <a:xfrm>
            <a:off x="2284362" y="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Timeline of the project</a:t>
            </a:r>
            <a:endParaRPr/>
          </a:p>
        </p:txBody>
      </p:sp>
      <p:sp>
        <p:nvSpPr>
          <p:cNvPr id="3" name="Rectangle 2">
            <a:extLst>
              <a:ext uri="{FF2B5EF4-FFF2-40B4-BE49-F238E27FC236}">
                <a16:creationId xmlns:a16="http://schemas.microsoft.com/office/drawing/2014/main" id="{87062ACD-F988-87E3-3761-27A4D5D259B4}"/>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Google Sans Text"/>
              </a:rPr>
              <a:t>Design the circuit schematic for the multi-sensor sensing layer and RGB indicator system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13"/>
          <p:cNvSpPr txBox="1">
            <a:spLocks noGrp="1"/>
          </p:cNvSpPr>
          <p:nvPr>
            <p:ph type="body" idx="1"/>
          </p:nvPr>
        </p:nvSpPr>
        <p:spPr>
          <a:xfrm>
            <a:off x="174811" y="1117600"/>
            <a:ext cx="11842377" cy="5229605"/>
          </a:xfrm>
          <a:prstGeom prst="rect">
            <a:avLst/>
          </a:prstGeom>
          <a:noFill/>
          <a:ln>
            <a:noFill/>
          </a:ln>
        </p:spPr>
        <p:txBody>
          <a:bodyPr spcFirstLastPara="1" wrap="square" lIns="91425" tIns="45700" rIns="91425" bIns="45700" anchor="t" anchorCtr="0">
            <a:normAutofit/>
          </a:bodyPr>
          <a:lstStyle/>
          <a:p>
            <a:pPr marL="228600" lvl="0" indent="-228600">
              <a:spcBef>
                <a:spcPts val="0"/>
              </a:spcBef>
            </a:pPr>
            <a:r>
              <a:rPr lang="en-IN" b="1" dirty="0"/>
              <a:t>Summary of Key Points: </a:t>
            </a:r>
            <a:r>
              <a:rPr lang="en-US" dirty="0"/>
              <a:t>This project successfully moves away from the limitations of traditional, binary threshold-based monitors by implementing a Context-Aware, Multi-Sensor Fusion Framework. By integrating gas, temperature, and motion data into a unified, continuous risk score, the system provides a holistic view of environmental safety rather than reacting to isolated fluctuations.</a:t>
            </a:r>
          </a:p>
          <a:p>
            <a:pPr marL="228600" lvl="0" indent="-228600">
              <a:spcBef>
                <a:spcPts val="0"/>
              </a:spcBef>
            </a:pPr>
            <a:r>
              <a:rPr lang="en-IN" b="1" dirty="0"/>
              <a:t>Final Thoughts: </a:t>
            </a:r>
            <a:r>
              <a:rPr lang="en-US" dirty="0"/>
              <a:t>The framework demonstrates that high-level intelligence and predictive safety do not require expensive "black-box" machine learning models. By prioritizing mathematical explainability and maintaining a constant-time complexity, we aim to develop a solution that is both transparent for safety-critical audits and efficient.</a:t>
            </a:r>
          </a:p>
        </p:txBody>
      </p:sp>
      <p:sp>
        <p:nvSpPr>
          <p:cNvPr id="217" name="Google Shape;217;p13"/>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19</a:t>
            </a:fld>
            <a:endParaRPr/>
          </a:p>
        </p:txBody>
      </p:sp>
      <p:sp>
        <p:nvSpPr>
          <p:cNvPr id="218" name="Google Shape;218;p13"/>
          <p:cNvSpPr txBox="1"/>
          <p:nvPr/>
        </p:nvSpPr>
        <p:spPr>
          <a:xfrm>
            <a:off x="2284362" y="14567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Conclusion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4">
          <a:extLst>
            <a:ext uri="{FF2B5EF4-FFF2-40B4-BE49-F238E27FC236}">
              <a16:creationId xmlns:a16="http://schemas.microsoft.com/office/drawing/2014/main" id="{F018B80B-F25E-AB78-D58E-CF153F12AE0E}"/>
            </a:ext>
          </a:extLst>
        </p:cNvPr>
        <p:cNvGrpSpPr/>
        <p:nvPr/>
      </p:nvGrpSpPr>
      <p:grpSpPr>
        <a:xfrm>
          <a:off x="0" y="0"/>
          <a:ext cx="0" cy="0"/>
          <a:chOff x="0" y="0"/>
          <a:chExt cx="0" cy="0"/>
        </a:xfrm>
      </p:grpSpPr>
      <p:sp>
        <p:nvSpPr>
          <p:cNvPr id="215" name="Google Shape;215;p13">
            <a:extLst>
              <a:ext uri="{FF2B5EF4-FFF2-40B4-BE49-F238E27FC236}">
                <a16:creationId xmlns:a16="http://schemas.microsoft.com/office/drawing/2014/main" id="{E697E6B8-2B82-0E21-2D26-CBB127A9E715}"/>
              </a:ext>
            </a:extLst>
          </p:cNvPr>
          <p:cNvSpPr txBox="1">
            <a:spLocks noGrp="1"/>
          </p:cNvSpPr>
          <p:nvPr>
            <p:ph type="body" idx="1"/>
          </p:nvPr>
        </p:nvSpPr>
        <p:spPr>
          <a:xfrm>
            <a:off x="174811" y="1117600"/>
            <a:ext cx="11842377" cy="5229605"/>
          </a:xfrm>
          <a:prstGeom prst="rect">
            <a:avLst/>
          </a:prstGeom>
          <a:noFill/>
          <a:ln>
            <a:noFill/>
          </a:ln>
        </p:spPr>
        <p:txBody>
          <a:bodyPr spcFirstLastPara="1" wrap="square" lIns="91425" tIns="45700" rIns="91425" bIns="45700" anchor="t" anchorCtr="0">
            <a:normAutofit/>
          </a:bodyPr>
          <a:lstStyle/>
          <a:p>
            <a:pPr marL="228600" lvl="0" indent="-228600">
              <a:spcBef>
                <a:spcPts val="0"/>
              </a:spcBef>
            </a:pPr>
            <a:r>
              <a:rPr lang="en-IN" b="1" dirty="0"/>
              <a:t>Call to Action or Next Steps:</a:t>
            </a:r>
            <a:r>
              <a:rPr lang="en-IN" dirty="0"/>
              <a:t> </a:t>
            </a:r>
            <a:r>
              <a:rPr lang="en-US" dirty="0"/>
              <a:t>The immediate roadmap involves transitioning this passive monitoring system into a closed-loop active mitigation framework. Future work will focus on integrating wireless telemetry for remote factory oversight and implementing automated actuators, such as ventilation fans and emergency shut-offs, to proactively neutralize risks identified by the fusion engine.</a:t>
            </a:r>
            <a:endParaRPr dirty="0"/>
          </a:p>
        </p:txBody>
      </p:sp>
      <p:sp>
        <p:nvSpPr>
          <p:cNvPr id="217" name="Google Shape;217;p13">
            <a:extLst>
              <a:ext uri="{FF2B5EF4-FFF2-40B4-BE49-F238E27FC236}">
                <a16:creationId xmlns:a16="http://schemas.microsoft.com/office/drawing/2014/main" id="{F01B45ED-5339-3DCD-738D-D0C3C53B951F}"/>
              </a:ext>
            </a:extLst>
          </p:cNvPr>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20</a:t>
            </a:fld>
            <a:endParaRPr/>
          </a:p>
        </p:txBody>
      </p:sp>
      <p:sp>
        <p:nvSpPr>
          <p:cNvPr id="218" name="Google Shape;218;p13">
            <a:extLst>
              <a:ext uri="{FF2B5EF4-FFF2-40B4-BE49-F238E27FC236}">
                <a16:creationId xmlns:a16="http://schemas.microsoft.com/office/drawing/2014/main" id="{888D594A-F030-A89D-E32D-0E88BD09B8BD}"/>
              </a:ext>
            </a:extLst>
          </p:cNvPr>
          <p:cNvSpPr txBox="1"/>
          <p:nvPr/>
        </p:nvSpPr>
        <p:spPr>
          <a:xfrm>
            <a:off x="2284362" y="14567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Conclusion</a:t>
            </a:r>
            <a:endParaRPr/>
          </a:p>
        </p:txBody>
      </p:sp>
    </p:spTree>
    <p:extLst>
      <p:ext uri="{BB962C8B-B14F-4D97-AF65-F5344CB8AC3E}">
        <p14:creationId xmlns:p14="http://schemas.microsoft.com/office/powerpoint/2010/main" val="32515120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14"/>
          <p:cNvSpPr txBox="1">
            <a:spLocks noGrp="1"/>
          </p:cNvSpPr>
          <p:nvPr>
            <p:ph type="body" idx="1"/>
          </p:nvPr>
        </p:nvSpPr>
        <p:spPr>
          <a:xfrm>
            <a:off x="389467" y="1117600"/>
            <a:ext cx="11192933" cy="5229605"/>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rgbClr val="002060"/>
              </a:buClr>
              <a:buSzPts val="2800"/>
              <a:buChar char="•"/>
            </a:pPr>
            <a:r>
              <a:rPr lang="en-IN" b="1" dirty="0"/>
              <a:t>List of References:</a:t>
            </a:r>
          </a:p>
          <a:p>
            <a:pPr marL="228600" lvl="0" indent="-228600">
              <a:spcBef>
                <a:spcPts val="0"/>
              </a:spcBef>
            </a:pPr>
            <a:r>
              <a:rPr lang="en-US" dirty="0"/>
              <a:t>Ali, N. A., Hussain, M. A., &amp; Al-Khateeb, M. R. (2015). Fire detection using multi-sensor data fusion. </a:t>
            </a:r>
            <a:r>
              <a:rPr lang="en-US" i="1" dirty="0"/>
              <a:t>International Journal of Distributed Sensor Networks</a:t>
            </a:r>
            <a:r>
              <a:rPr lang="en-US" dirty="0"/>
              <a:t>, 2015, 1–10. </a:t>
            </a:r>
          </a:p>
          <a:p>
            <a:pPr marL="228600" lvl="0" indent="-228600">
              <a:spcBef>
                <a:spcPts val="0"/>
              </a:spcBef>
            </a:pPr>
            <a:r>
              <a:rPr lang="en-US" dirty="0"/>
              <a:t>Luo, R. C., &amp; Chen, O. (2002). </a:t>
            </a:r>
            <a:r>
              <a:rPr lang="en-US" dirty="0" err="1"/>
              <a:t>Multisensor</a:t>
            </a:r>
            <a:r>
              <a:rPr lang="en-US" dirty="0"/>
              <a:t> fusion and integration: A review on approaches and applications. </a:t>
            </a:r>
            <a:r>
              <a:rPr lang="en-US" i="1" dirty="0"/>
              <a:t>IEEE Sensors Journal</a:t>
            </a:r>
            <a:r>
              <a:rPr lang="en-US" dirty="0"/>
              <a:t>, 2(2), 107–119.</a:t>
            </a:r>
          </a:p>
          <a:p>
            <a:pPr marL="228600" lvl="0" indent="-228600">
              <a:spcBef>
                <a:spcPts val="0"/>
              </a:spcBef>
            </a:pPr>
            <a:r>
              <a:rPr lang="en-US" dirty="0"/>
              <a:t>Abdur Rahman, M., Islam, M. M., &amp; Rahman, M. A. (2020). Threshold-free hazard detection using context-aware sensor fusion. </a:t>
            </a:r>
            <a:r>
              <a:rPr lang="en-US" i="1" dirty="0"/>
              <a:t>IEEE Access</a:t>
            </a:r>
            <a:r>
              <a:rPr lang="en-US" dirty="0"/>
              <a:t>, 8, 164123–164135. </a:t>
            </a:r>
          </a:p>
          <a:p>
            <a:pPr marL="228600" lvl="0" indent="-228600">
              <a:spcBef>
                <a:spcPts val="0"/>
              </a:spcBef>
            </a:pPr>
            <a:r>
              <a:rPr lang="en-US" dirty="0"/>
              <a:t>Zadeh, L. A. (1975). Fuzzy logic and approximate reasoning. </a:t>
            </a:r>
            <a:r>
              <a:rPr lang="en-US" i="1" dirty="0" err="1"/>
              <a:t>Synthese</a:t>
            </a:r>
            <a:r>
              <a:rPr lang="en-US" dirty="0"/>
              <a:t>, 30(3–4), 407–428. </a:t>
            </a:r>
          </a:p>
          <a:p>
            <a:pPr marL="228600" lvl="0" indent="-228600">
              <a:spcBef>
                <a:spcPts val="0"/>
              </a:spcBef>
            </a:pPr>
            <a:r>
              <a:rPr lang="en-US" dirty="0"/>
              <a:t>Bhuiyan, M. Z. A., Wu, J., Wang, G., &amp; Cao, J. (2017). Sensing and decision making in cyber-physical systems. </a:t>
            </a:r>
            <a:r>
              <a:rPr lang="en-US" i="1" dirty="0"/>
              <a:t>IEEE Transactions on Industrial Informatics</a:t>
            </a:r>
            <a:r>
              <a:rPr lang="en-US" dirty="0"/>
              <a:t>, 13(4), 1868–1879. </a:t>
            </a:r>
            <a:endParaRPr dirty="0"/>
          </a:p>
        </p:txBody>
      </p:sp>
      <p:sp>
        <p:nvSpPr>
          <p:cNvPr id="226" name="Google Shape;226;p14"/>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21</a:t>
            </a:fld>
            <a:endParaRPr/>
          </a:p>
        </p:txBody>
      </p:sp>
      <p:sp>
        <p:nvSpPr>
          <p:cNvPr id="227" name="Google Shape;227;p14"/>
          <p:cNvSpPr txBox="1"/>
          <p:nvPr/>
        </p:nvSpPr>
        <p:spPr>
          <a:xfrm>
            <a:off x="2284362" y="14567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References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15"/>
          <p:cNvSpPr txBox="1">
            <a:spLocks noGrp="1"/>
          </p:cNvSpPr>
          <p:nvPr>
            <p:ph type="body" idx="1"/>
          </p:nvPr>
        </p:nvSpPr>
        <p:spPr>
          <a:xfrm>
            <a:off x="174812" y="1241792"/>
            <a:ext cx="11842377" cy="5105075"/>
          </a:xfrm>
          <a:prstGeom prst="rect">
            <a:avLst/>
          </a:prstGeom>
          <a:noFill/>
          <a:ln>
            <a:noFill/>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rgbClr val="002060"/>
              </a:buClr>
              <a:buSzPts val="2300"/>
              <a:buNone/>
            </a:pPr>
            <a:r>
              <a:rPr lang="en-IN" sz="2300" dirty="0"/>
              <a:t>EL should aim for tangible results in one of the following forms:</a:t>
            </a:r>
            <a:endParaRPr dirty="0"/>
          </a:p>
          <a:p>
            <a:pPr marL="228600" lvl="0" indent="-228600" algn="just" rtl="0">
              <a:lnSpc>
                <a:spcPct val="90000"/>
              </a:lnSpc>
              <a:spcBef>
                <a:spcPts val="1000"/>
              </a:spcBef>
              <a:spcAft>
                <a:spcPts val="0"/>
              </a:spcAft>
              <a:buClr>
                <a:srgbClr val="002060"/>
              </a:buClr>
              <a:buSzPts val="2300"/>
              <a:buFont typeface="Arial"/>
              <a:buChar char="•"/>
            </a:pPr>
            <a:r>
              <a:rPr lang="en-IN" sz="2300" b="1" dirty="0"/>
              <a:t>Patent Filing: </a:t>
            </a:r>
            <a:r>
              <a:rPr lang="en-IN" sz="2300" dirty="0"/>
              <a:t>If your prototype shows novel functionality or an innovative process, file for a patent. Steps include drafting a patent description, claims, and conducting a prior art search.</a:t>
            </a:r>
            <a:endParaRPr dirty="0"/>
          </a:p>
          <a:p>
            <a:pPr marL="228600" lvl="0" indent="-228600" algn="just" rtl="0">
              <a:lnSpc>
                <a:spcPct val="90000"/>
              </a:lnSpc>
              <a:spcBef>
                <a:spcPts val="1000"/>
              </a:spcBef>
              <a:spcAft>
                <a:spcPts val="0"/>
              </a:spcAft>
              <a:buClr>
                <a:srgbClr val="002060"/>
              </a:buClr>
              <a:buSzPts val="2300"/>
              <a:buFont typeface="Arial"/>
              <a:buChar char="•"/>
            </a:pPr>
            <a:r>
              <a:rPr lang="en-IN" sz="2300" b="1" dirty="0"/>
              <a:t>Journal Publication: </a:t>
            </a:r>
            <a:r>
              <a:rPr lang="en-IN" sz="2300" dirty="0"/>
              <a:t>Write a comprehensive paper detailing the methodology, prototype design, testing, and results. Submit to journals related to manufacturing technology, engineering design, or industrial innovation.</a:t>
            </a:r>
            <a:endParaRPr dirty="0"/>
          </a:p>
          <a:p>
            <a:pPr marL="228600" lvl="0" indent="-228600" algn="just" rtl="0">
              <a:lnSpc>
                <a:spcPct val="90000"/>
              </a:lnSpc>
              <a:spcBef>
                <a:spcPts val="1000"/>
              </a:spcBef>
              <a:spcAft>
                <a:spcPts val="0"/>
              </a:spcAft>
              <a:buClr>
                <a:srgbClr val="002060"/>
              </a:buClr>
              <a:buSzPts val="2300"/>
              <a:buFont typeface="Arial"/>
              <a:buChar char="•"/>
            </a:pPr>
            <a:r>
              <a:rPr lang="en-IN" sz="2300" b="1" dirty="0"/>
              <a:t>Conference Publication: </a:t>
            </a:r>
            <a:r>
              <a:rPr lang="en-IN" sz="2300" dirty="0"/>
              <a:t>Prepare an abstract or full paper for submission to conferences. Present your prototype development, key findings, and future research possibilities (Paper to be drafted as per IEEE format. Format will be shared later on)</a:t>
            </a:r>
            <a:endParaRPr dirty="0"/>
          </a:p>
          <a:p>
            <a:pPr marL="228600" lvl="0" indent="-228600" algn="just" rtl="0">
              <a:lnSpc>
                <a:spcPct val="90000"/>
              </a:lnSpc>
              <a:spcBef>
                <a:spcPts val="1000"/>
              </a:spcBef>
              <a:spcAft>
                <a:spcPts val="0"/>
              </a:spcAft>
              <a:buClr>
                <a:srgbClr val="002060"/>
              </a:buClr>
              <a:buSzPts val="2300"/>
              <a:buFont typeface="Arial"/>
              <a:buChar char="•"/>
            </a:pPr>
            <a:r>
              <a:rPr lang="en-IN" sz="2300" b="1" dirty="0"/>
              <a:t>Research Proposal: </a:t>
            </a:r>
            <a:r>
              <a:rPr lang="en-IN" sz="2300" dirty="0"/>
              <a:t>Propose extending the research into a larger project, securing funding for mass production, or applying the process to different industries. Include objectives, proposed methodology, expected impacts, and a budget estimate.</a:t>
            </a:r>
            <a:endParaRPr dirty="0"/>
          </a:p>
        </p:txBody>
      </p:sp>
      <p:sp>
        <p:nvSpPr>
          <p:cNvPr id="234" name="Google Shape;234;p15"/>
          <p:cNvSpPr txBox="1">
            <a:spLocks noGrp="1"/>
          </p:cNvSpPr>
          <p:nvPr>
            <p:ph type="dt" idx="10"/>
          </p:nvPr>
        </p:nvSpPr>
        <p:spPr>
          <a:xfrm>
            <a:off x="174812" y="6347205"/>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Tuesday, 22 October 2024</a:t>
            </a:r>
            <a:endParaRPr/>
          </a:p>
        </p:txBody>
      </p:sp>
      <p:sp>
        <p:nvSpPr>
          <p:cNvPr id="235" name="Google Shape;235;p15"/>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22</a:t>
            </a:fld>
            <a:endParaRPr/>
          </a:p>
        </p:txBody>
      </p:sp>
      <p:sp>
        <p:nvSpPr>
          <p:cNvPr id="236" name="Google Shape;236;p15"/>
          <p:cNvSpPr txBox="1"/>
          <p:nvPr/>
        </p:nvSpPr>
        <p:spPr>
          <a:xfrm>
            <a:off x="2235201" y="145670"/>
            <a:ext cx="8974666" cy="1181860"/>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3600" b="1" dirty="0">
                <a:solidFill>
                  <a:srgbClr val="C00000"/>
                </a:solidFill>
                <a:latin typeface="Bookman Old Style"/>
                <a:ea typeface="Bookman Old Style"/>
                <a:cs typeface="Bookman Old Style"/>
                <a:sym typeface="Bookman Old Style"/>
              </a:rPr>
              <a:t>Expected Outcome by the end of First Year</a:t>
            </a:r>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2" name="Google Shape;242;p16"/>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23</a:t>
            </a:fld>
            <a:endParaRPr/>
          </a:p>
        </p:txBody>
      </p:sp>
      <p:pic>
        <p:nvPicPr>
          <p:cNvPr id="243" name="Google Shape;243;p16"/>
          <p:cNvPicPr preferRelativeResize="0"/>
          <p:nvPr/>
        </p:nvPicPr>
        <p:blipFill rotWithShape="1">
          <a:blip r:embed="rId3">
            <a:alphaModFix/>
          </a:blip>
          <a:srcRect/>
          <a:stretch/>
        </p:blipFill>
        <p:spPr>
          <a:xfrm>
            <a:off x="3151096" y="1605964"/>
            <a:ext cx="5889812" cy="3646074"/>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336</TotalTime>
  <Words>1931</Words>
  <Application>Microsoft Office PowerPoint</Application>
  <PresentationFormat>Widescreen</PresentationFormat>
  <Paragraphs>129</Paragraphs>
  <Slides>23</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Bookman Old Style</vt:lpstr>
      <vt:lpstr>Calibri</vt:lpstr>
      <vt:lpstr>Google Sans Text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Dr. Shanmukha</dc:creator>
  <cp:lastModifiedBy>Abhinav Verma</cp:lastModifiedBy>
  <cp:revision>9</cp:revision>
  <dcterms:created xsi:type="dcterms:W3CDTF">2021-06-02T13:10:21Z</dcterms:created>
  <dcterms:modified xsi:type="dcterms:W3CDTF">2026-04-28T05:32:48Z</dcterms:modified>
</cp:coreProperties>
</file>